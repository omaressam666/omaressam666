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0509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48419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1363255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345753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188564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7865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606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9165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69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921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281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8216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792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0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9448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632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139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8162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247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378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4187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242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507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5533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956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664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7329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829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0048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4504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511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110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6849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439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161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9232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533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96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87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511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557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0524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979785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79700727" name="Shape 1"/>
          <p:cNvSpPr/>
          <p:nvPr/>
        </p:nvSpPr>
        <p:spPr bwMode="auto">
          <a:xfrm>
            <a:off x="292608" y="475488"/>
            <a:ext cx="23774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06806307" name="Text 2"/>
          <p:cNvSpPr/>
          <p:nvPr/>
        </p:nvSpPr>
        <p:spPr bwMode="auto">
          <a:xfrm>
            <a:off x="292608" y="4754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DEPI ACADEMIC PROJECT</a:t>
            </a:r>
            <a:endParaRPr lang="en-US" sz="900"/>
          </a:p>
        </p:txBody>
      </p:sp>
      <p:sp>
        <p:nvSpPr>
          <p:cNvPr id="1133703686" name="Text 3"/>
          <p:cNvSpPr/>
          <p:nvPr/>
        </p:nvSpPr>
        <p:spPr bwMode="auto">
          <a:xfrm>
            <a:off x="292608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Cybersecurity</a:t>
            </a:r>
            <a:endParaRPr lang="en-US" sz="5200"/>
          </a:p>
        </p:txBody>
      </p:sp>
      <p:sp>
        <p:nvSpPr>
          <p:cNvPr id="1628262340" name="Text 4"/>
          <p:cNvSpPr/>
          <p:nvPr/>
        </p:nvSpPr>
        <p:spPr bwMode="auto">
          <a:xfrm>
            <a:off x="292608" y="1810512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Incident Response</a:t>
            </a:r>
            <a:endParaRPr lang="en-US" sz="5200"/>
          </a:p>
        </p:txBody>
      </p:sp>
      <p:sp>
        <p:nvSpPr>
          <p:cNvPr id="1637505313" name="Text 5"/>
          <p:cNvSpPr/>
          <p:nvPr/>
        </p:nvSpPr>
        <p:spPr bwMode="auto">
          <a:xfrm>
            <a:off x="292608" y="26517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Framework</a:t>
            </a:r>
            <a:endParaRPr lang="en-US" sz="5200"/>
          </a:p>
        </p:txBody>
      </p:sp>
      <p:sp>
        <p:nvSpPr>
          <p:cNvPr id="2047319120" name="Shape 6"/>
          <p:cNvSpPr/>
          <p:nvPr/>
        </p:nvSpPr>
        <p:spPr bwMode="auto">
          <a:xfrm>
            <a:off x="292608" y="3657600"/>
            <a:ext cx="68580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43508109" name="Text 7"/>
          <p:cNvSpPr/>
          <p:nvPr/>
        </p:nvSpPr>
        <p:spPr bwMode="auto">
          <a:xfrm>
            <a:off x="292608" y="3822192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8B949E"/>
                </a:solidFill>
                <a:latin typeface="Arial"/>
                <a:ea typeface="Arial"/>
                <a:cs typeface="Arial"/>
              </a:rPr>
              <a:t>100-Employee Organization  ·  6 Threat Scenarios  ·  </a:t>
            </a:r>
            <a:endParaRPr lang="en-US" sz="1150"/>
          </a:p>
        </p:txBody>
      </p:sp>
      <p:sp>
        <p:nvSpPr>
          <p:cNvPr id="1256633399" name="Shape 8"/>
          <p:cNvSpPr/>
          <p:nvPr/>
        </p:nvSpPr>
        <p:spPr bwMode="auto">
          <a:xfrm>
            <a:off x="292608" y="4407408"/>
            <a:ext cx="14173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1881649" name="Text 9"/>
          <p:cNvSpPr/>
          <p:nvPr/>
        </p:nvSpPr>
        <p:spPr bwMode="auto">
          <a:xfrm>
            <a:off x="292608" y="4407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Omar</a:t>
            </a:r>
            <a:endParaRPr lang="en-US" sz="1300"/>
          </a:p>
        </p:txBody>
      </p:sp>
      <p:sp>
        <p:nvSpPr>
          <p:cNvPr id="1322541238" name="Shape 10"/>
          <p:cNvSpPr/>
          <p:nvPr/>
        </p:nvSpPr>
        <p:spPr bwMode="auto">
          <a:xfrm>
            <a:off x="1847088" y="4407408"/>
            <a:ext cx="14173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01904770" name="Text 11"/>
          <p:cNvSpPr/>
          <p:nvPr/>
        </p:nvSpPr>
        <p:spPr bwMode="auto">
          <a:xfrm>
            <a:off x="1847088" y="4407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Youssef</a:t>
            </a:r>
            <a:endParaRPr lang="en-US" sz="1300"/>
          </a:p>
        </p:txBody>
      </p:sp>
      <p:sp>
        <p:nvSpPr>
          <p:cNvPr id="546335039" name="Shape 12"/>
          <p:cNvSpPr/>
          <p:nvPr/>
        </p:nvSpPr>
        <p:spPr bwMode="auto">
          <a:xfrm>
            <a:off x="3401568" y="4407408"/>
            <a:ext cx="14173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41030410" name="Text 13"/>
          <p:cNvSpPr/>
          <p:nvPr/>
        </p:nvSpPr>
        <p:spPr bwMode="auto">
          <a:xfrm>
            <a:off x="3401568" y="4407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Omar</a:t>
            </a:r>
            <a:endParaRPr lang="en-US" sz="1300"/>
          </a:p>
        </p:txBody>
      </p:sp>
      <p:sp>
        <p:nvSpPr>
          <p:cNvPr id="2114788945" name="Shape 14"/>
          <p:cNvSpPr/>
          <p:nvPr/>
        </p:nvSpPr>
        <p:spPr bwMode="auto">
          <a:xfrm>
            <a:off x="4956048" y="4407408"/>
            <a:ext cx="14173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10994898" name="Text 15"/>
          <p:cNvSpPr/>
          <p:nvPr/>
        </p:nvSpPr>
        <p:spPr bwMode="auto">
          <a:xfrm>
            <a:off x="4956048" y="44074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Mahmoud</a:t>
            </a:r>
            <a:endParaRPr lang="en-US" sz="1300"/>
          </a:p>
        </p:txBody>
      </p:sp>
      <p:sp>
        <p:nvSpPr>
          <p:cNvPr id="2094136106" name="Shape 16"/>
          <p:cNvSpPr/>
          <p:nvPr/>
        </p:nvSpPr>
        <p:spPr bwMode="auto">
          <a:xfrm>
            <a:off x="8321039" y="1463040"/>
            <a:ext cx="17830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12667557" name="Shape 17"/>
          <p:cNvSpPr/>
          <p:nvPr/>
        </p:nvSpPr>
        <p:spPr bwMode="auto">
          <a:xfrm>
            <a:off x="8321039" y="1463040"/>
            <a:ext cx="178308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695405" name="Text 18"/>
          <p:cNvSpPr/>
          <p:nvPr/>
        </p:nvSpPr>
        <p:spPr bwMode="auto">
          <a:xfrm>
            <a:off x="8321039" y="157276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6</a:t>
            </a:r>
            <a:endParaRPr lang="en-US" sz="3800"/>
          </a:p>
        </p:txBody>
      </p:sp>
      <p:sp>
        <p:nvSpPr>
          <p:cNvPr id="449124233" name="Text 19"/>
          <p:cNvSpPr/>
          <p:nvPr/>
        </p:nvSpPr>
        <p:spPr bwMode="auto">
          <a:xfrm>
            <a:off x="8321039" y="25146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Threats</a:t>
            </a:r>
            <a:endParaRPr lang="en-US" sz="1100"/>
          </a:p>
        </p:txBody>
      </p:sp>
      <p:sp>
        <p:nvSpPr>
          <p:cNvPr id="780467902" name="Shape 20"/>
          <p:cNvSpPr/>
          <p:nvPr/>
        </p:nvSpPr>
        <p:spPr bwMode="auto">
          <a:xfrm>
            <a:off x="10241280" y="1463040"/>
            <a:ext cx="17830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3440478" name="Shape 21"/>
          <p:cNvSpPr/>
          <p:nvPr/>
        </p:nvSpPr>
        <p:spPr bwMode="auto">
          <a:xfrm>
            <a:off x="10241280" y="1463040"/>
            <a:ext cx="178308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46551546" name="Text 22"/>
          <p:cNvSpPr/>
          <p:nvPr/>
        </p:nvSpPr>
        <p:spPr bwMode="auto">
          <a:xfrm>
            <a:off x="10241280" y="157276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100</a:t>
            </a:r>
            <a:endParaRPr lang="en-US" sz="3800"/>
          </a:p>
        </p:txBody>
      </p:sp>
      <p:sp>
        <p:nvSpPr>
          <p:cNvPr id="1170785162" name="Text 23"/>
          <p:cNvSpPr/>
          <p:nvPr/>
        </p:nvSpPr>
        <p:spPr bwMode="auto">
          <a:xfrm>
            <a:off x="10241280" y="25146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Employees</a:t>
            </a:r>
            <a:endParaRPr lang="en-US" sz="1100"/>
          </a:p>
        </p:txBody>
      </p:sp>
      <p:sp>
        <p:nvSpPr>
          <p:cNvPr id="237309184" name="Shape 24"/>
          <p:cNvSpPr/>
          <p:nvPr/>
        </p:nvSpPr>
        <p:spPr bwMode="auto">
          <a:xfrm>
            <a:off x="8321039" y="3474720"/>
            <a:ext cx="17830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8097994" name="Shape 25"/>
          <p:cNvSpPr/>
          <p:nvPr/>
        </p:nvSpPr>
        <p:spPr bwMode="auto">
          <a:xfrm>
            <a:off x="8321039" y="3474720"/>
            <a:ext cx="178308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91285819" name="Text 26"/>
          <p:cNvSpPr/>
          <p:nvPr/>
        </p:nvSpPr>
        <p:spPr bwMode="auto">
          <a:xfrm>
            <a:off x="8321039" y="358444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6</a:t>
            </a:r>
            <a:endParaRPr lang="en-US" sz="3800"/>
          </a:p>
        </p:txBody>
      </p:sp>
      <p:sp>
        <p:nvSpPr>
          <p:cNvPr id="518905872" name="Text 27"/>
          <p:cNvSpPr/>
          <p:nvPr/>
        </p:nvSpPr>
        <p:spPr bwMode="auto">
          <a:xfrm>
            <a:off x="8321039" y="452628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SOC Cases</a:t>
            </a:r>
            <a:endParaRPr lang="en-US" sz="1100"/>
          </a:p>
        </p:txBody>
      </p:sp>
      <p:sp>
        <p:nvSpPr>
          <p:cNvPr id="292356621" name="Shape 28"/>
          <p:cNvSpPr/>
          <p:nvPr/>
        </p:nvSpPr>
        <p:spPr bwMode="auto">
          <a:xfrm>
            <a:off x="10241280" y="3474720"/>
            <a:ext cx="17830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42321134" name="Shape 29"/>
          <p:cNvSpPr/>
          <p:nvPr/>
        </p:nvSpPr>
        <p:spPr bwMode="auto">
          <a:xfrm>
            <a:off x="10241280" y="3474720"/>
            <a:ext cx="178308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91271597" name="Text 30"/>
          <p:cNvSpPr/>
          <p:nvPr/>
        </p:nvSpPr>
        <p:spPr bwMode="auto">
          <a:xfrm>
            <a:off x="10241280" y="3584448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$0</a:t>
            </a:r>
            <a:endParaRPr lang="en-US" sz="3800"/>
          </a:p>
        </p:txBody>
      </p:sp>
      <p:sp>
        <p:nvSpPr>
          <p:cNvPr id="1218639172" name="Text 31"/>
          <p:cNvSpPr/>
          <p:nvPr/>
        </p:nvSpPr>
        <p:spPr bwMode="auto">
          <a:xfrm>
            <a:off x="10241280" y="452628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Ransom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267663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21666645" name="Shape 1"/>
          <p:cNvSpPr/>
          <p:nvPr/>
        </p:nvSpPr>
        <p:spPr bwMode="auto">
          <a:xfrm>
            <a:off x="292608" y="274320"/>
            <a:ext cx="1207008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8607949" name="Text 2"/>
          <p:cNvSpPr/>
          <p:nvPr/>
        </p:nvSpPr>
        <p:spPr bwMode="auto">
          <a:xfrm>
            <a:off x="292608" y="27432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FOUNDATIONS</a:t>
            </a:r>
            <a:endParaRPr lang="en-US" sz="900"/>
          </a:p>
        </p:txBody>
      </p:sp>
      <p:sp>
        <p:nvSpPr>
          <p:cNvPr id="1004602728" name="Text 3"/>
          <p:cNvSpPr/>
          <p:nvPr/>
        </p:nvSpPr>
        <p:spPr bwMode="auto">
          <a:xfrm>
            <a:off x="292608" y="658368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Security Foundations</a:t>
            </a:r>
            <a:endParaRPr lang="en-US" sz="2600"/>
          </a:p>
        </p:txBody>
      </p:sp>
      <p:sp>
        <p:nvSpPr>
          <p:cNvPr id="54767727" name="Text 4"/>
          <p:cNvSpPr/>
          <p:nvPr/>
        </p:nvSpPr>
        <p:spPr bwMode="auto">
          <a:xfrm>
            <a:off x="292608" y="13716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Every control in this report maps back to these three principles</a:t>
            </a:r>
            <a:endParaRPr lang="en-US" sz="1200"/>
          </a:p>
        </p:txBody>
      </p:sp>
      <p:sp>
        <p:nvSpPr>
          <p:cNvPr id="1521436149" name="Shape 5"/>
          <p:cNvSpPr/>
          <p:nvPr/>
        </p:nvSpPr>
        <p:spPr bwMode="auto">
          <a:xfrm>
            <a:off x="292608" y="1783080"/>
            <a:ext cx="11704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96236415" name="Text 6"/>
          <p:cNvSpPr/>
          <p:nvPr/>
        </p:nvSpPr>
        <p:spPr bwMode="auto">
          <a:xfrm>
            <a:off x="292608" y="1920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The CIA Triad - Three Core Security Principles</a:t>
            </a:r>
            <a:endParaRPr lang="en-US" sz="1100"/>
          </a:p>
        </p:txBody>
      </p:sp>
      <p:sp>
        <p:nvSpPr>
          <p:cNvPr id="2058484788" name="Shape 7"/>
          <p:cNvSpPr/>
          <p:nvPr/>
        </p:nvSpPr>
        <p:spPr bwMode="auto">
          <a:xfrm>
            <a:off x="292608" y="2267712"/>
            <a:ext cx="3657600" cy="2633472"/>
          </a:xfrm>
          <a:prstGeom prst="rect">
            <a:avLst/>
          </a:prstGeom>
          <a:solidFill>
            <a:srgbClr val="142030"/>
          </a:solidFill>
          <a:ln w="10160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215418777" name="Shape 8"/>
          <p:cNvSpPr/>
          <p:nvPr/>
        </p:nvSpPr>
        <p:spPr bwMode="auto">
          <a:xfrm>
            <a:off x="292608" y="2267712"/>
            <a:ext cx="36576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17294717" name="Text 9"/>
          <p:cNvSpPr/>
          <p:nvPr/>
        </p:nvSpPr>
        <p:spPr bwMode="auto">
          <a:xfrm>
            <a:off x="2578608" y="2724911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58A6FF">
                    <a:alpha val="18000"/>
                  </a:srgbClr>
                </a:solidFill>
                <a:latin typeface="Arial"/>
                <a:ea typeface="Arial"/>
                <a:cs typeface="Arial"/>
              </a:rPr>
              <a:t>C</a:t>
            </a:r>
            <a:endParaRPr lang="en-US" sz="7200"/>
          </a:p>
        </p:txBody>
      </p:sp>
      <p:sp>
        <p:nvSpPr>
          <p:cNvPr id="1700119956" name="Text 10"/>
          <p:cNvSpPr/>
          <p:nvPr/>
        </p:nvSpPr>
        <p:spPr bwMode="auto">
          <a:xfrm>
            <a:off x="429768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C</a:t>
            </a:r>
            <a:endParaRPr lang="en-US" sz="2600"/>
          </a:p>
        </p:txBody>
      </p:sp>
      <p:sp>
        <p:nvSpPr>
          <p:cNvPr id="421650414" name="Text 11"/>
          <p:cNvSpPr/>
          <p:nvPr/>
        </p:nvSpPr>
        <p:spPr bwMode="auto">
          <a:xfrm>
            <a:off x="429768" y="31089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Confidentiality</a:t>
            </a:r>
            <a:endParaRPr lang="en-US" sz="1500"/>
          </a:p>
        </p:txBody>
      </p:sp>
      <p:sp>
        <p:nvSpPr>
          <p:cNvPr id="297721705" name="Shape 12"/>
          <p:cNvSpPr/>
          <p:nvPr/>
        </p:nvSpPr>
        <p:spPr bwMode="auto">
          <a:xfrm>
            <a:off x="429768" y="3584448"/>
            <a:ext cx="338328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269183834" name="Text 13"/>
          <p:cNvSpPr/>
          <p:nvPr/>
        </p:nvSpPr>
        <p:spPr bwMode="auto">
          <a:xfrm>
            <a:off x="429768" y="3694176"/>
            <a:ext cx="3383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9D1D9"/>
                </a:solidFill>
                <a:latin typeface="Arial"/>
                <a:ea typeface="Arial"/>
                <a:cs typeface="Arial"/>
              </a:rPr>
              <a:t>Data reaches only authorized people. Access controlled to prevent unauthorized sharing.</a:t>
            </a:r>
            <a:endParaRPr lang="en-US" sz="1000"/>
          </a:p>
        </p:txBody>
      </p:sp>
      <p:sp>
        <p:nvSpPr>
          <p:cNvPr id="283565507" name="Text 14"/>
          <p:cNvSpPr/>
          <p:nvPr/>
        </p:nvSpPr>
        <p:spPr bwMode="auto">
          <a:xfrm>
            <a:off x="429768" y="45171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8A6FF"/>
                </a:solidFill>
                <a:latin typeface="Arial"/>
                <a:ea typeface="Arial"/>
                <a:cs typeface="Arial"/>
              </a:rPr>
              <a:t>Broken by: phishing, credential theft, eavesdropping</a:t>
            </a:r>
            <a:endParaRPr lang="en-US" sz="900"/>
          </a:p>
        </p:txBody>
      </p:sp>
      <p:sp>
        <p:nvSpPr>
          <p:cNvPr id="227329852" name="Shape 15"/>
          <p:cNvSpPr/>
          <p:nvPr/>
        </p:nvSpPr>
        <p:spPr bwMode="auto">
          <a:xfrm>
            <a:off x="4151376" y="2267712"/>
            <a:ext cx="3657600" cy="2633472"/>
          </a:xfrm>
          <a:prstGeom prst="rect">
            <a:avLst/>
          </a:prstGeom>
          <a:solidFill>
            <a:srgbClr val="0E2018"/>
          </a:solidFill>
          <a:ln w="10160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1439482482" name="Shape 16"/>
          <p:cNvSpPr/>
          <p:nvPr/>
        </p:nvSpPr>
        <p:spPr bwMode="auto">
          <a:xfrm>
            <a:off x="4151376" y="2267712"/>
            <a:ext cx="36576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97362674" name="Text 17"/>
          <p:cNvSpPr/>
          <p:nvPr/>
        </p:nvSpPr>
        <p:spPr bwMode="auto">
          <a:xfrm>
            <a:off x="6437376" y="2724911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3FB950">
                    <a:alpha val="18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lang="en-US" sz="7200"/>
          </a:p>
        </p:txBody>
      </p:sp>
      <p:sp>
        <p:nvSpPr>
          <p:cNvPr id="335354568" name="Text 18"/>
          <p:cNvSpPr/>
          <p:nvPr/>
        </p:nvSpPr>
        <p:spPr bwMode="auto">
          <a:xfrm>
            <a:off x="4288536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I</a:t>
            </a:r>
            <a:endParaRPr lang="en-US" sz="2600"/>
          </a:p>
        </p:txBody>
      </p:sp>
      <p:sp>
        <p:nvSpPr>
          <p:cNvPr id="1100369448" name="Text 19"/>
          <p:cNvSpPr/>
          <p:nvPr/>
        </p:nvSpPr>
        <p:spPr bwMode="auto">
          <a:xfrm>
            <a:off x="4288536" y="31089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Integrity</a:t>
            </a:r>
            <a:endParaRPr lang="en-US" sz="1500"/>
          </a:p>
        </p:txBody>
      </p:sp>
      <p:sp>
        <p:nvSpPr>
          <p:cNvPr id="741437549" name="Shape 20"/>
          <p:cNvSpPr/>
          <p:nvPr/>
        </p:nvSpPr>
        <p:spPr bwMode="auto">
          <a:xfrm>
            <a:off x="4288536" y="3584448"/>
            <a:ext cx="338328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714743063" name="Text 21"/>
          <p:cNvSpPr/>
          <p:nvPr/>
        </p:nvSpPr>
        <p:spPr bwMode="auto">
          <a:xfrm>
            <a:off x="4288536" y="3694176"/>
            <a:ext cx="3383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9D1D9"/>
                </a:solidFill>
                <a:latin typeface="Arial"/>
                <a:ea typeface="Arial"/>
                <a:cs typeface="Arial"/>
              </a:rPr>
              <a:t>Data is trustworthy and has not been tampered. Verified with hashing and digital signatures.</a:t>
            </a:r>
            <a:endParaRPr lang="en-US" sz="1000"/>
          </a:p>
        </p:txBody>
      </p:sp>
      <p:sp>
        <p:nvSpPr>
          <p:cNvPr id="809482920" name="Text 22"/>
          <p:cNvSpPr/>
          <p:nvPr/>
        </p:nvSpPr>
        <p:spPr bwMode="auto">
          <a:xfrm>
            <a:off x="4288536" y="45171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3FB950"/>
                </a:solidFill>
                <a:latin typeface="Arial"/>
                <a:ea typeface="Arial"/>
                <a:cs typeface="Arial"/>
              </a:rPr>
              <a:t>Broken by: man-in-the-middle, file corruption, ransomware</a:t>
            </a:r>
            <a:endParaRPr lang="en-US" sz="900"/>
          </a:p>
        </p:txBody>
      </p:sp>
      <p:sp>
        <p:nvSpPr>
          <p:cNvPr id="310438358" name="Shape 23"/>
          <p:cNvSpPr/>
          <p:nvPr/>
        </p:nvSpPr>
        <p:spPr bwMode="auto">
          <a:xfrm>
            <a:off x="8010144" y="2267712"/>
            <a:ext cx="3657600" cy="2633472"/>
          </a:xfrm>
          <a:prstGeom prst="rect">
            <a:avLst/>
          </a:prstGeom>
          <a:solidFill>
            <a:srgbClr val="201408"/>
          </a:solidFill>
          <a:ln w="10160">
            <a:solidFill>
              <a:srgbClr val="F0883E">
                <a:alpha val="40000"/>
              </a:srgbClr>
            </a:solidFill>
            <a:prstDash val="solid"/>
          </a:ln>
        </p:spPr>
      </p:sp>
      <p:sp>
        <p:nvSpPr>
          <p:cNvPr id="1080469908" name="Shape 24"/>
          <p:cNvSpPr/>
          <p:nvPr/>
        </p:nvSpPr>
        <p:spPr bwMode="auto">
          <a:xfrm>
            <a:off x="8010144" y="2267712"/>
            <a:ext cx="36576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48450052" name="Text 25"/>
          <p:cNvSpPr/>
          <p:nvPr/>
        </p:nvSpPr>
        <p:spPr bwMode="auto">
          <a:xfrm>
            <a:off x="10296144" y="2724911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F0883E">
                    <a:alpha val="18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lang="en-US" sz="7200"/>
          </a:p>
        </p:txBody>
      </p:sp>
      <p:sp>
        <p:nvSpPr>
          <p:cNvPr id="476344302" name="Text 26"/>
          <p:cNvSpPr/>
          <p:nvPr/>
        </p:nvSpPr>
        <p:spPr bwMode="auto">
          <a:xfrm>
            <a:off x="8147304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A</a:t>
            </a:r>
            <a:endParaRPr lang="en-US" sz="2600"/>
          </a:p>
        </p:txBody>
      </p:sp>
      <p:sp>
        <p:nvSpPr>
          <p:cNvPr id="701175825" name="Text 27"/>
          <p:cNvSpPr/>
          <p:nvPr/>
        </p:nvSpPr>
        <p:spPr bwMode="auto">
          <a:xfrm>
            <a:off x="8147304" y="31089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Availability</a:t>
            </a:r>
            <a:endParaRPr lang="en-US" sz="1500"/>
          </a:p>
        </p:txBody>
      </p:sp>
      <p:sp>
        <p:nvSpPr>
          <p:cNvPr id="247044091" name="Shape 28"/>
          <p:cNvSpPr/>
          <p:nvPr/>
        </p:nvSpPr>
        <p:spPr bwMode="auto">
          <a:xfrm>
            <a:off x="8147304" y="3584448"/>
            <a:ext cx="338328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350133090" name="Text 29"/>
          <p:cNvSpPr/>
          <p:nvPr/>
        </p:nvSpPr>
        <p:spPr bwMode="auto">
          <a:xfrm>
            <a:off x="8147304" y="3694176"/>
            <a:ext cx="3383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9D1D9"/>
                </a:solidFill>
                <a:latin typeface="Arial"/>
                <a:ea typeface="Arial"/>
                <a:cs typeface="Arial"/>
              </a:rPr>
              <a:t>Systems work when people need them. Even perfectly protected data is useless if inaccessible.</a:t>
            </a:r>
            <a:endParaRPr lang="en-US" sz="1000"/>
          </a:p>
        </p:txBody>
      </p:sp>
      <p:sp>
        <p:nvSpPr>
          <p:cNvPr id="1412893045" name="Text 30"/>
          <p:cNvSpPr/>
          <p:nvPr/>
        </p:nvSpPr>
        <p:spPr bwMode="auto">
          <a:xfrm>
            <a:off x="8147304" y="45171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F0883E"/>
                </a:solidFill>
                <a:latin typeface="Arial"/>
                <a:ea typeface="Arial"/>
                <a:cs typeface="Arial"/>
              </a:rPr>
              <a:t>Broken by: DDoS attacks, ransomware, hardware failure</a:t>
            </a:r>
            <a:endParaRPr lang="en-US" sz="900"/>
          </a:p>
        </p:txBody>
      </p:sp>
      <p:sp>
        <p:nvSpPr>
          <p:cNvPr id="623091719" name="Shape 31"/>
          <p:cNvSpPr/>
          <p:nvPr/>
        </p:nvSpPr>
        <p:spPr bwMode="auto">
          <a:xfrm>
            <a:off x="292608" y="5074920"/>
            <a:ext cx="5760720" cy="12984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98371572" name="Shape 32"/>
          <p:cNvSpPr/>
          <p:nvPr/>
        </p:nvSpPr>
        <p:spPr bwMode="auto">
          <a:xfrm>
            <a:off x="292608" y="5074920"/>
            <a:ext cx="576072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74194133" name="Text 33"/>
          <p:cNvSpPr/>
          <p:nvPr/>
        </p:nvSpPr>
        <p:spPr bwMode="auto">
          <a:xfrm>
            <a:off x="429768" y="51846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Defense in Depth</a:t>
            </a:r>
            <a:endParaRPr lang="en-US" sz="1200"/>
          </a:p>
        </p:txBody>
      </p:sp>
      <p:sp>
        <p:nvSpPr>
          <p:cNvPr id="2128213779" name="Text 34"/>
          <p:cNvSpPr/>
          <p:nvPr/>
        </p:nvSpPr>
        <p:spPr bwMode="auto">
          <a:xfrm>
            <a:off x="429768" y="56052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Overlapping security layers - if one fails the next catches it. Perimeter + Network + Endpoint + Data.</a:t>
            </a:r>
            <a:endParaRPr lang="en-US" sz="1050"/>
          </a:p>
        </p:txBody>
      </p:sp>
      <p:sp>
        <p:nvSpPr>
          <p:cNvPr id="1342042002" name="Shape 35"/>
          <p:cNvSpPr/>
          <p:nvPr/>
        </p:nvSpPr>
        <p:spPr bwMode="auto">
          <a:xfrm>
            <a:off x="6281928" y="5074920"/>
            <a:ext cx="5760720" cy="129844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6946982" name="Shape 36"/>
          <p:cNvSpPr/>
          <p:nvPr/>
        </p:nvSpPr>
        <p:spPr bwMode="auto">
          <a:xfrm>
            <a:off x="6281928" y="5074920"/>
            <a:ext cx="5760720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441681419" name="Text 37"/>
          <p:cNvSpPr/>
          <p:nvPr/>
        </p:nvSpPr>
        <p:spPr bwMode="auto">
          <a:xfrm>
            <a:off x="6419088" y="51846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Zero Trust + Least Privilege</a:t>
            </a:r>
            <a:endParaRPr lang="en-US" sz="1200"/>
          </a:p>
        </p:txBody>
      </p:sp>
      <p:sp>
        <p:nvSpPr>
          <p:cNvPr id="2093968513" name="Text 38"/>
          <p:cNvSpPr/>
          <p:nvPr/>
        </p:nvSpPr>
        <p:spPr bwMode="auto">
          <a:xfrm>
            <a:off x="6419088" y="56052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No device trusted by default - even inside the network. Every account gets only the minimum permissions its role requires.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46642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1412924" name="Shape 1"/>
          <p:cNvSpPr/>
          <p:nvPr/>
        </p:nvSpPr>
        <p:spPr bwMode="auto">
          <a:xfrm>
            <a:off x="292608" y="274320"/>
            <a:ext cx="932688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45250297" name="Text 2"/>
          <p:cNvSpPr/>
          <p:nvPr/>
        </p:nvSpPr>
        <p:spPr bwMode="auto">
          <a:xfrm>
            <a:off x="292608" y="27432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TOPOLOGY</a:t>
            </a:r>
            <a:endParaRPr lang="en-US" sz="900"/>
          </a:p>
        </p:txBody>
      </p:sp>
      <p:sp>
        <p:nvSpPr>
          <p:cNvPr id="1311486729" name="Text 3"/>
          <p:cNvSpPr/>
          <p:nvPr/>
        </p:nvSpPr>
        <p:spPr bwMode="auto">
          <a:xfrm>
            <a:off x="292608" y="658368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Network Topology - 5-Zone Segmented Architecture</a:t>
            </a:r>
            <a:endParaRPr lang="en-US" sz="2600"/>
          </a:p>
        </p:txBody>
      </p:sp>
      <p:sp>
        <p:nvSpPr>
          <p:cNvPr id="1949140905" name="Text 4"/>
          <p:cNvSpPr/>
          <p:nvPr/>
        </p:nvSpPr>
        <p:spPr bwMode="auto">
          <a:xfrm>
            <a:off x="292608" y="13716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Two firewall layers - each zone isolated via VLAN - no cross-zone traffic without explicit rules</a:t>
            </a:r>
            <a:endParaRPr lang="en-US" sz="1200"/>
          </a:p>
        </p:txBody>
      </p:sp>
      <p:sp>
        <p:nvSpPr>
          <p:cNvPr id="1305237748" name="Shape 5"/>
          <p:cNvSpPr/>
          <p:nvPr/>
        </p:nvSpPr>
        <p:spPr bwMode="auto">
          <a:xfrm>
            <a:off x="292608" y="1783080"/>
            <a:ext cx="11704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87859062" name="Shape 6"/>
          <p:cNvSpPr/>
          <p:nvPr/>
        </p:nvSpPr>
        <p:spPr bwMode="auto">
          <a:xfrm>
            <a:off x="2560320" y="1920240"/>
            <a:ext cx="7040880" cy="475488"/>
          </a:xfrm>
          <a:prstGeom prst="rect">
            <a:avLst/>
          </a:prstGeom>
          <a:solidFill>
            <a:srgbClr val="1A1D21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308019222" name="Shape 7"/>
          <p:cNvSpPr/>
          <p:nvPr/>
        </p:nvSpPr>
        <p:spPr bwMode="auto">
          <a:xfrm>
            <a:off x="2560320" y="1920240"/>
            <a:ext cx="54864" cy="4754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25345519" name="Text 8"/>
          <p:cNvSpPr/>
          <p:nvPr/>
        </p:nvSpPr>
        <p:spPr bwMode="auto">
          <a:xfrm>
            <a:off x="2743200" y="1920240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INTERNET  (untrusted traffic)</a:t>
            </a:r>
            <a:endParaRPr lang="en-US" sz="1050"/>
          </a:p>
        </p:txBody>
      </p:sp>
      <p:sp>
        <p:nvSpPr>
          <p:cNvPr id="787986443" name="Text 9"/>
          <p:cNvSpPr/>
          <p:nvPr/>
        </p:nvSpPr>
        <p:spPr bwMode="auto">
          <a:xfrm>
            <a:off x="5806440" y="23957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8B949E"/>
                </a:solidFill>
                <a:latin typeface="Arial"/>
                <a:ea typeface="Arial"/>
                <a:cs typeface="Arial"/>
              </a:rPr>
              <a:t>▼</a:t>
            </a:r>
            <a:endParaRPr lang="en-US" sz="950"/>
          </a:p>
        </p:txBody>
      </p:sp>
      <p:sp>
        <p:nvSpPr>
          <p:cNvPr id="1427706406" name="Shape 10"/>
          <p:cNvSpPr/>
          <p:nvPr/>
        </p:nvSpPr>
        <p:spPr bwMode="auto">
          <a:xfrm>
            <a:off x="2560320" y="2633472"/>
            <a:ext cx="7040880" cy="475488"/>
          </a:xfrm>
          <a:prstGeom prst="rect">
            <a:avLst/>
          </a:prstGeom>
          <a:solidFill>
            <a:srgbClr val="200E0E"/>
          </a:solidFill>
          <a:ln w="10160">
            <a:solidFill>
              <a:srgbClr val="FF7B72"/>
            </a:solidFill>
            <a:prstDash val="solid"/>
          </a:ln>
        </p:spPr>
      </p:sp>
      <p:sp>
        <p:nvSpPr>
          <p:cNvPr id="852251700" name="Shape 11"/>
          <p:cNvSpPr/>
          <p:nvPr/>
        </p:nvSpPr>
        <p:spPr bwMode="auto">
          <a:xfrm>
            <a:off x="2560320" y="2633472"/>
            <a:ext cx="54864" cy="47548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85564671" name="Text 12"/>
          <p:cNvSpPr/>
          <p:nvPr/>
        </p:nvSpPr>
        <p:spPr bwMode="auto">
          <a:xfrm>
            <a:off x="2743200" y="2633472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PERIMETER FIREWALL  -  blocks unauthorized inbound &amp; outbound  -  Layer 1</a:t>
            </a:r>
            <a:endParaRPr lang="en-US" sz="1050"/>
          </a:p>
        </p:txBody>
      </p:sp>
      <p:sp>
        <p:nvSpPr>
          <p:cNvPr id="1265431510" name="Text 13"/>
          <p:cNvSpPr/>
          <p:nvPr/>
        </p:nvSpPr>
        <p:spPr bwMode="auto">
          <a:xfrm>
            <a:off x="5806440" y="31089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8B949E"/>
                </a:solidFill>
                <a:latin typeface="Arial"/>
                <a:ea typeface="Arial"/>
                <a:cs typeface="Arial"/>
              </a:rPr>
              <a:t>▼</a:t>
            </a:r>
            <a:endParaRPr lang="en-US" sz="950"/>
          </a:p>
        </p:txBody>
      </p:sp>
      <p:sp>
        <p:nvSpPr>
          <p:cNvPr id="1247368091" name="Shape 14"/>
          <p:cNvSpPr/>
          <p:nvPr/>
        </p:nvSpPr>
        <p:spPr bwMode="auto">
          <a:xfrm>
            <a:off x="2560320" y="3346704"/>
            <a:ext cx="7040880" cy="475488"/>
          </a:xfrm>
          <a:prstGeom prst="rect">
            <a:avLst/>
          </a:prstGeom>
          <a:solidFill>
            <a:srgbClr val="201408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1698815596" name="Shape 15"/>
          <p:cNvSpPr/>
          <p:nvPr/>
        </p:nvSpPr>
        <p:spPr bwMode="auto">
          <a:xfrm>
            <a:off x="2560320" y="3346704"/>
            <a:ext cx="54864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96211881" name="Text 16"/>
          <p:cNvSpPr/>
          <p:nvPr/>
        </p:nvSpPr>
        <p:spPr bwMode="auto">
          <a:xfrm>
            <a:off x="2743200" y="3346704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DMZ  -  VLAN 20  -  Web Server  ·  DNS  ·  Mail Relay  -  publicly accessible, isolated from LAN</a:t>
            </a:r>
            <a:endParaRPr lang="en-US" sz="1050"/>
          </a:p>
        </p:txBody>
      </p:sp>
      <p:sp>
        <p:nvSpPr>
          <p:cNvPr id="1148495791" name="Text 17"/>
          <p:cNvSpPr/>
          <p:nvPr/>
        </p:nvSpPr>
        <p:spPr bwMode="auto">
          <a:xfrm>
            <a:off x="5806440" y="382219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8B949E"/>
                </a:solidFill>
                <a:latin typeface="Arial"/>
                <a:ea typeface="Arial"/>
                <a:cs typeface="Arial"/>
              </a:rPr>
              <a:t>▼</a:t>
            </a:r>
            <a:endParaRPr lang="en-US" sz="950"/>
          </a:p>
        </p:txBody>
      </p:sp>
      <p:sp>
        <p:nvSpPr>
          <p:cNvPr id="1417756164" name="Shape 18"/>
          <p:cNvSpPr/>
          <p:nvPr/>
        </p:nvSpPr>
        <p:spPr bwMode="auto">
          <a:xfrm>
            <a:off x="2560320" y="4059936"/>
            <a:ext cx="7040880" cy="475488"/>
          </a:xfrm>
          <a:prstGeom prst="rect">
            <a:avLst/>
          </a:prstGeom>
          <a:solidFill>
            <a:srgbClr val="0E1420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511013696" name="Shape 19"/>
          <p:cNvSpPr/>
          <p:nvPr/>
        </p:nvSpPr>
        <p:spPr bwMode="auto">
          <a:xfrm>
            <a:off x="2560320" y="4059936"/>
            <a:ext cx="54864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3182558" name="Text 20"/>
          <p:cNvSpPr/>
          <p:nvPr/>
        </p:nvSpPr>
        <p:spPr bwMode="auto">
          <a:xfrm>
            <a:off x="2743200" y="4059936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INTERNAL FIREWALL  +  WAF  +  IDS/IPS  -  Layer 2 controls</a:t>
            </a:r>
            <a:endParaRPr lang="en-US" sz="1050"/>
          </a:p>
        </p:txBody>
      </p:sp>
      <p:sp>
        <p:nvSpPr>
          <p:cNvPr id="35382753" name="Shape 21"/>
          <p:cNvSpPr/>
          <p:nvPr/>
        </p:nvSpPr>
        <p:spPr bwMode="auto">
          <a:xfrm>
            <a:off x="292608" y="5029200"/>
            <a:ext cx="3749040" cy="1536192"/>
          </a:xfrm>
          <a:prstGeom prst="rect">
            <a:avLst/>
          </a:prstGeom>
          <a:solidFill>
            <a:srgbClr val="0E201A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04115337" name="Shape 22"/>
          <p:cNvSpPr/>
          <p:nvPr/>
        </p:nvSpPr>
        <p:spPr bwMode="auto">
          <a:xfrm>
            <a:off x="292608" y="5029200"/>
            <a:ext cx="374904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41854259" name="Text 23"/>
          <p:cNvSpPr/>
          <p:nvPr/>
        </p:nvSpPr>
        <p:spPr bwMode="auto">
          <a:xfrm>
            <a:off x="429768" y="513892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USER LAN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VLAN 10</a:t>
            </a:r>
            <a:endParaRPr lang="en-US" sz="1200"/>
          </a:p>
        </p:txBody>
      </p:sp>
      <p:sp>
        <p:nvSpPr>
          <p:cNvPr id="473031448" name="Text 24"/>
          <p:cNvSpPr/>
          <p:nvPr/>
        </p:nvSpPr>
        <p:spPr bwMode="auto">
          <a:xfrm>
            <a:off x="429768" y="5779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100 workstations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Low trust - no direct DB access</a:t>
            </a:r>
            <a:endParaRPr lang="en-US" sz="1000"/>
          </a:p>
        </p:txBody>
      </p:sp>
      <p:sp>
        <p:nvSpPr>
          <p:cNvPr id="1934806614" name="Text 25"/>
          <p:cNvSpPr/>
          <p:nvPr/>
        </p:nvSpPr>
        <p:spPr bwMode="auto">
          <a:xfrm>
            <a:off x="4023360" y="5660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547309184" name="Shape 26"/>
          <p:cNvSpPr/>
          <p:nvPr/>
        </p:nvSpPr>
        <p:spPr bwMode="auto">
          <a:xfrm>
            <a:off x="4279392" y="5029200"/>
            <a:ext cx="3749040" cy="1536192"/>
          </a:xfrm>
          <a:prstGeom prst="rect">
            <a:avLst/>
          </a:prstGeom>
          <a:solidFill>
            <a:srgbClr val="0E1420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25085526" name="Shape 27"/>
          <p:cNvSpPr/>
          <p:nvPr/>
        </p:nvSpPr>
        <p:spPr bwMode="auto">
          <a:xfrm>
            <a:off x="4279392" y="5029200"/>
            <a:ext cx="37490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66136831" name="Text 28"/>
          <p:cNvSpPr/>
          <p:nvPr/>
        </p:nvSpPr>
        <p:spPr bwMode="auto">
          <a:xfrm>
            <a:off x="4416552" y="513892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SERVER ZONE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VLAN 30</a:t>
            </a:r>
            <a:endParaRPr lang="en-US" sz="1200"/>
          </a:p>
        </p:txBody>
      </p:sp>
      <p:sp>
        <p:nvSpPr>
          <p:cNvPr id="1016507056" name="Text 29"/>
          <p:cNvSpPr/>
          <p:nvPr/>
        </p:nvSpPr>
        <p:spPr bwMode="auto">
          <a:xfrm>
            <a:off x="4416552" y="5779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App + File + DB servers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DB accessible from App only</a:t>
            </a:r>
            <a:endParaRPr lang="en-US" sz="1000"/>
          </a:p>
        </p:txBody>
      </p:sp>
      <p:sp>
        <p:nvSpPr>
          <p:cNvPr id="1761807962" name="Text 30"/>
          <p:cNvSpPr/>
          <p:nvPr/>
        </p:nvSpPr>
        <p:spPr bwMode="auto">
          <a:xfrm>
            <a:off x="8010144" y="5660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757048683" name="Shape 31"/>
          <p:cNvSpPr/>
          <p:nvPr/>
        </p:nvSpPr>
        <p:spPr bwMode="auto">
          <a:xfrm>
            <a:off x="8266176" y="5029200"/>
            <a:ext cx="3749040" cy="1536192"/>
          </a:xfrm>
          <a:prstGeom prst="rect">
            <a:avLst/>
          </a:prstGeom>
          <a:solidFill>
            <a:srgbClr val="1A0E20"/>
          </a:solidFill>
          <a:ln w="10160">
            <a:solidFill>
              <a:srgbClr val="BC8CFF"/>
            </a:solidFill>
            <a:prstDash val="solid"/>
          </a:ln>
        </p:spPr>
      </p:sp>
      <p:sp>
        <p:nvSpPr>
          <p:cNvPr id="1884685591" name="Shape 32"/>
          <p:cNvSpPr/>
          <p:nvPr/>
        </p:nvSpPr>
        <p:spPr bwMode="auto">
          <a:xfrm>
            <a:off x="8266176" y="5029200"/>
            <a:ext cx="374904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86335409" name="Text 33"/>
          <p:cNvSpPr/>
          <p:nvPr/>
        </p:nvSpPr>
        <p:spPr bwMode="auto">
          <a:xfrm>
            <a:off x="8403336" y="513892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MGMT ZONE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VLAN 99</a:t>
            </a:r>
            <a:endParaRPr lang="en-US" sz="1200"/>
          </a:p>
        </p:txBody>
      </p:sp>
      <p:sp>
        <p:nvSpPr>
          <p:cNvPr id="732696503" name="Text 34"/>
          <p:cNvSpPr/>
          <p:nvPr/>
        </p:nvSpPr>
        <p:spPr bwMode="auto">
          <a:xfrm>
            <a:off x="8403336" y="5779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SIEM · IDS · Admin tools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MFA + VPN required</a:t>
            </a:r>
            <a:endParaRPr lang="en-US" sz="1000"/>
          </a:p>
        </p:txBody>
      </p:sp>
      <p:sp>
        <p:nvSpPr>
          <p:cNvPr id="1759949212" name="Shape 35"/>
          <p:cNvSpPr/>
          <p:nvPr/>
        </p:nvSpPr>
        <p:spPr bwMode="auto">
          <a:xfrm>
            <a:off x="292608" y="6601968"/>
            <a:ext cx="11576304" cy="201168"/>
          </a:xfrm>
          <a:prstGeom prst="rect">
            <a:avLst/>
          </a:prstGeom>
          <a:solidFill>
            <a:srgbClr val="0D1825"/>
          </a:solidFill>
          <a:ln w="6350">
            <a:solidFill>
              <a:srgbClr val="1F6FEB"/>
            </a:solidFill>
            <a:prstDash val="solid"/>
          </a:ln>
        </p:spPr>
      </p:sp>
      <p:sp>
        <p:nvSpPr>
          <p:cNvPr id="301002738" name="Text 36"/>
          <p:cNvSpPr/>
          <p:nvPr/>
        </p:nvSpPr>
        <p:spPr bwMode="auto"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VPN ZONE  -  VLAN 50  -  Remote access entry  -  terminates in User LAN only  -  MFA enforced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612388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44315419" name="Shape 1"/>
          <p:cNvSpPr/>
          <p:nvPr/>
        </p:nvSpPr>
        <p:spPr bwMode="auto">
          <a:xfrm>
            <a:off x="292608" y="274320"/>
            <a:ext cx="1298448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2508963" name="Text 2"/>
          <p:cNvSpPr/>
          <p:nvPr/>
        </p:nvSpPr>
        <p:spPr bwMode="auto">
          <a:xfrm>
            <a:off x="292608" y="274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SCENARIO</a:t>
            </a:r>
            <a:endParaRPr lang="en-US" sz="900"/>
          </a:p>
        </p:txBody>
      </p:sp>
      <p:sp>
        <p:nvSpPr>
          <p:cNvPr id="589888614" name="Text 3"/>
          <p:cNvSpPr/>
          <p:nvPr/>
        </p:nvSpPr>
        <p:spPr bwMode="auto">
          <a:xfrm>
            <a:off x="292608" y="658368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6 Employees - 6 Attacks</a:t>
            </a:r>
            <a:endParaRPr lang="en-US" sz="2600"/>
          </a:p>
        </p:txBody>
      </p:sp>
      <p:sp>
        <p:nvSpPr>
          <p:cNvPr id="1054205663" name="Text 4"/>
          <p:cNvSpPr/>
          <p:nvPr/>
        </p:nvSpPr>
        <p:spPr bwMode="auto">
          <a:xfrm>
            <a:off x="292608" y="13716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100-employee organization - one simulation period - six distinct threat categories</a:t>
            </a:r>
            <a:endParaRPr lang="en-US" sz="1200"/>
          </a:p>
        </p:txBody>
      </p:sp>
      <p:sp>
        <p:nvSpPr>
          <p:cNvPr id="2141422384" name="Shape 5"/>
          <p:cNvSpPr/>
          <p:nvPr/>
        </p:nvSpPr>
        <p:spPr bwMode="auto">
          <a:xfrm>
            <a:off x="292608" y="1783080"/>
            <a:ext cx="11704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642974749" name="Shape 6"/>
          <p:cNvSpPr/>
          <p:nvPr/>
        </p:nvSpPr>
        <p:spPr bwMode="auto">
          <a:xfrm>
            <a:off x="292608" y="1993392"/>
            <a:ext cx="11576304" cy="365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60804214" name="Text 7"/>
          <p:cNvSpPr/>
          <p:nvPr/>
        </p:nvSpPr>
        <p:spPr bwMode="auto">
          <a:xfrm>
            <a:off x="347472" y="199339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#</a:t>
            </a:r>
            <a:endParaRPr lang="en-US" sz="950"/>
          </a:p>
        </p:txBody>
      </p:sp>
      <p:sp>
        <p:nvSpPr>
          <p:cNvPr id="474996127" name="Text 8"/>
          <p:cNvSpPr/>
          <p:nvPr/>
        </p:nvSpPr>
        <p:spPr bwMode="auto">
          <a:xfrm>
            <a:off x="859536" y="199339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Employee</a:t>
            </a:r>
            <a:endParaRPr lang="en-US" sz="950"/>
          </a:p>
        </p:txBody>
      </p:sp>
      <p:sp>
        <p:nvSpPr>
          <p:cNvPr id="674324987" name="Text 9"/>
          <p:cNvSpPr/>
          <p:nvPr/>
        </p:nvSpPr>
        <p:spPr bwMode="auto">
          <a:xfrm>
            <a:off x="2706624" y="1993392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</a:t>
            </a:r>
            <a:endParaRPr lang="en-US" sz="950"/>
          </a:p>
        </p:txBody>
      </p:sp>
      <p:sp>
        <p:nvSpPr>
          <p:cNvPr id="78645914" name="Text 10"/>
          <p:cNvSpPr/>
          <p:nvPr/>
        </p:nvSpPr>
        <p:spPr bwMode="auto">
          <a:xfrm>
            <a:off x="4279392" y="1993392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</a:t>
            </a:r>
            <a:endParaRPr lang="en-US" sz="950"/>
          </a:p>
        </p:txBody>
      </p:sp>
      <p:sp>
        <p:nvSpPr>
          <p:cNvPr id="322388937" name="Text 11"/>
          <p:cNvSpPr/>
          <p:nvPr/>
        </p:nvSpPr>
        <p:spPr bwMode="auto">
          <a:xfrm>
            <a:off x="6272784" y="1993392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Severity</a:t>
            </a:r>
            <a:endParaRPr lang="en-US" sz="950"/>
          </a:p>
        </p:txBody>
      </p:sp>
      <p:sp>
        <p:nvSpPr>
          <p:cNvPr id="522116402" name="Text 12"/>
          <p:cNvSpPr/>
          <p:nvPr/>
        </p:nvSpPr>
        <p:spPr bwMode="auto">
          <a:xfrm>
            <a:off x="7754112" y="1993392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8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  <a:endParaRPr lang="en-US" sz="950"/>
          </a:p>
        </p:txBody>
      </p:sp>
      <p:sp>
        <p:nvSpPr>
          <p:cNvPr id="1114407954" name="Shape 13"/>
          <p:cNvSpPr/>
          <p:nvPr/>
        </p:nvSpPr>
        <p:spPr bwMode="auto">
          <a:xfrm>
            <a:off x="292608" y="2423160"/>
            <a:ext cx="11576304" cy="65836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8323079" name="Shape 14"/>
          <p:cNvSpPr/>
          <p:nvPr/>
        </p:nvSpPr>
        <p:spPr bwMode="auto">
          <a:xfrm>
            <a:off x="292608" y="2423160"/>
            <a:ext cx="54864" cy="6583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994247470" name="Text 15"/>
          <p:cNvSpPr/>
          <p:nvPr/>
        </p:nvSpPr>
        <p:spPr bwMode="auto">
          <a:xfrm>
            <a:off x="347472" y="242316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1</a:t>
            </a:r>
            <a:endParaRPr lang="en-US" sz="1400"/>
          </a:p>
        </p:txBody>
      </p:sp>
      <p:sp>
        <p:nvSpPr>
          <p:cNvPr id="530320914" name="Text 16"/>
          <p:cNvSpPr/>
          <p:nvPr/>
        </p:nvSpPr>
        <p:spPr bwMode="auto">
          <a:xfrm>
            <a:off x="859536" y="242316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Sarah Ahmed</a:t>
            </a:r>
            <a:endParaRPr lang="en-US" sz="1150"/>
          </a:p>
        </p:txBody>
      </p:sp>
      <p:sp>
        <p:nvSpPr>
          <p:cNvPr id="1695505437" name="Text 17"/>
          <p:cNvSpPr/>
          <p:nvPr/>
        </p:nvSpPr>
        <p:spPr bwMode="auto">
          <a:xfrm>
            <a:off x="2706624" y="242316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Finance</a:t>
            </a:r>
            <a:endParaRPr lang="en-US" sz="1100"/>
          </a:p>
        </p:txBody>
      </p:sp>
      <p:sp>
        <p:nvSpPr>
          <p:cNvPr id="497741380" name="Text 18"/>
          <p:cNvSpPr/>
          <p:nvPr/>
        </p:nvSpPr>
        <p:spPr bwMode="auto">
          <a:xfrm>
            <a:off x="4279392" y="242316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Phishing</a:t>
            </a:r>
            <a:endParaRPr lang="en-US" sz="1100"/>
          </a:p>
        </p:txBody>
      </p:sp>
      <p:sp>
        <p:nvSpPr>
          <p:cNvPr id="164784104" name="Shape 19"/>
          <p:cNvSpPr/>
          <p:nvPr/>
        </p:nvSpPr>
        <p:spPr bwMode="auto">
          <a:xfrm>
            <a:off x="6272784" y="2624328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627627632" name="Text 20"/>
          <p:cNvSpPr/>
          <p:nvPr/>
        </p:nvSpPr>
        <p:spPr bwMode="auto">
          <a:xfrm>
            <a:off x="6272784" y="262432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739779779" name="Text 21"/>
          <p:cNvSpPr/>
          <p:nvPr/>
        </p:nvSpPr>
        <p:spPr bwMode="auto">
          <a:xfrm>
            <a:off x="7754112" y="2423160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Credentials stolen - VPN access gained</a:t>
            </a:r>
            <a:endParaRPr lang="en-US" sz="1000"/>
          </a:p>
        </p:txBody>
      </p:sp>
      <p:sp>
        <p:nvSpPr>
          <p:cNvPr id="1110612549" name="Shape 22"/>
          <p:cNvSpPr/>
          <p:nvPr/>
        </p:nvSpPr>
        <p:spPr bwMode="auto">
          <a:xfrm>
            <a:off x="292608" y="3136392"/>
            <a:ext cx="11576304" cy="6583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28936978" name="Shape 23"/>
          <p:cNvSpPr/>
          <p:nvPr/>
        </p:nvSpPr>
        <p:spPr bwMode="auto">
          <a:xfrm>
            <a:off x="292608" y="3136392"/>
            <a:ext cx="54864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15284990" name="Text 24"/>
          <p:cNvSpPr/>
          <p:nvPr/>
        </p:nvSpPr>
        <p:spPr bwMode="auto">
          <a:xfrm>
            <a:off x="347472" y="313639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2</a:t>
            </a:r>
            <a:endParaRPr lang="en-US" sz="1400"/>
          </a:p>
        </p:txBody>
      </p:sp>
      <p:sp>
        <p:nvSpPr>
          <p:cNvPr id="1776457496" name="Text 25"/>
          <p:cNvSpPr/>
          <p:nvPr/>
        </p:nvSpPr>
        <p:spPr bwMode="auto">
          <a:xfrm>
            <a:off x="859536" y="3136392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Khaled Hassan</a:t>
            </a:r>
            <a:endParaRPr lang="en-US" sz="1150"/>
          </a:p>
        </p:txBody>
      </p:sp>
      <p:sp>
        <p:nvSpPr>
          <p:cNvPr id="1286622435" name="Text 26"/>
          <p:cNvSpPr/>
          <p:nvPr/>
        </p:nvSpPr>
        <p:spPr bwMode="auto">
          <a:xfrm>
            <a:off x="2706624" y="3136392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IT</a:t>
            </a:r>
            <a:endParaRPr lang="en-US" sz="1100"/>
          </a:p>
        </p:txBody>
      </p:sp>
      <p:sp>
        <p:nvSpPr>
          <p:cNvPr id="46306120" name="Text 27"/>
          <p:cNvSpPr/>
          <p:nvPr/>
        </p:nvSpPr>
        <p:spPr bwMode="auto">
          <a:xfrm>
            <a:off x="4279392" y="3136392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Ransomware</a:t>
            </a:r>
            <a:endParaRPr lang="en-US" sz="1100"/>
          </a:p>
        </p:txBody>
      </p:sp>
      <p:sp>
        <p:nvSpPr>
          <p:cNvPr id="1782331615" name="Shape 28"/>
          <p:cNvSpPr/>
          <p:nvPr/>
        </p:nvSpPr>
        <p:spPr bwMode="auto">
          <a:xfrm>
            <a:off x="6272784" y="3337560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2138010615" name="Text 29"/>
          <p:cNvSpPr/>
          <p:nvPr/>
        </p:nvSpPr>
        <p:spPr bwMode="auto">
          <a:xfrm>
            <a:off x="6272784" y="3337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865753470" name="Text 30"/>
          <p:cNvSpPr/>
          <p:nvPr/>
        </p:nvSpPr>
        <p:spPr bwMode="auto">
          <a:xfrm>
            <a:off x="7754112" y="3136392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3 systems encrypted - 2.3GB exfiltrated</a:t>
            </a:r>
            <a:endParaRPr lang="en-US" sz="1000"/>
          </a:p>
        </p:txBody>
      </p:sp>
      <p:sp>
        <p:nvSpPr>
          <p:cNvPr id="1976537401" name="Shape 31"/>
          <p:cNvSpPr/>
          <p:nvPr/>
        </p:nvSpPr>
        <p:spPr bwMode="auto">
          <a:xfrm>
            <a:off x="292608" y="3849624"/>
            <a:ext cx="11576304" cy="65836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7305238" name="Shape 32"/>
          <p:cNvSpPr/>
          <p:nvPr/>
        </p:nvSpPr>
        <p:spPr bwMode="auto">
          <a:xfrm>
            <a:off x="292608" y="3849624"/>
            <a:ext cx="54864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6024452" name="Text 33"/>
          <p:cNvSpPr/>
          <p:nvPr/>
        </p:nvSpPr>
        <p:spPr bwMode="auto">
          <a:xfrm>
            <a:off x="347472" y="384962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3</a:t>
            </a:r>
            <a:endParaRPr lang="en-US" sz="1400"/>
          </a:p>
        </p:txBody>
      </p:sp>
      <p:sp>
        <p:nvSpPr>
          <p:cNvPr id="370739283" name="Text 34"/>
          <p:cNvSpPr/>
          <p:nvPr/>
        </p:nvSpPr>
        <p:spPr bwMode="auto">
          <a:xfrm>
            <a:off x="859536" y="3849624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Rania Mostafa</a:t>
            </a:r>
            <a:endParaRPr lang="en-US" sz="1150"/>
          </a:p>
        </p:txBody>
      </p:sp>
      <p:sp>
        <p:nvSpPr>
          <p:cNvPr id="1783192552" name="Text 35"/>
          <p:cNvSpPr/>
          <p:nvPr/>
        </p:nvSpPr>
        <p:spPr bwMode="auto">
          <a:xfrm>
            <a:off x="2706624" y="3849624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HR</a:t>
            </a:r>
            <a:endParaRPr lang="en-US" sz="1100"/>
          </a:p>
        </p:txBody>
      </p:sp>
      <p:sp>
        <p:nvSpPr>
          <p:cNvPr id="741806410" name="Text 36"/>
          <p:cNvSpPr/>
          <p:nvPr/>
        </p:nvSpPr>
        <p:spPr bwMode="auto">
          <a:xfrm>
            <a:off x="4279392" y="3849624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Malware / RAT</a:t>
            </a:r>
            <a:endParaRPr lang="en-US" sz="1100"/>
          </a:p>
        </p:txBody>
      </p:sp>
      <p:sp>
        <p:nvSpPr>
          <p:cNvPr id="89773686" name="Shape 37"/>
          <p:cNvSpPr/>
          <p:nvPr/>
        </p:nvSpPr>
        <p:spPr bwMode="auto">
          <a:xfrm>
            <a:off x="6272784" y="4050792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712544817" name="Text 38"/>
          <p:cNvSpPr/>
          <p:nvPr/>
        </p:nvSpPr>
        <p:spPr bwMode="auto">
          <a:xfrm>
            <a:off x="6272784" y="405079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494422737" name="Text 39"/>
          <p:cNvSpPr/>
          <p:nvPr/>
        </p:nvSpPr>
        <p:spPr bwMode="auto">
          <a:xfrm>
            <a:off x="7754112" y="3849624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4h 44m remote access - 1,200 HR records</a:t>
            </a:r>
            <a:endParaRPr lang="en-US" sz="1000"/>
          </a:p>
        </p:txBody>
      </p:sp>
      <p:sp>
        <p:nvSpPr>
          <p:cNvPr id="1924369652" name="Shape 40"/>
          <p:cNvSpPr/>
          <p:nvPr/>
        </p:nvSpPr>
        <p:spPr bwMode="auto">
          <a:xfrm>
            <a:off x="292608" y="4562856"/>
            <a:ext cx="11576304" cy="6583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80633161" name="Shape 41"/>
          <p:cNvSpPr/>
          <p:nvPr/>
        </p:nvSpPr>
        <p:spPr bwMode="auto">
          <a:xfrm>
            <a:off x="292608" y="4562856"/>
            <a:ext cx="54864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43064251" name="Text 42"/>
          <p:cNvSpPr/>
          <p:nvPr/>
        </p:nvSpPr>
        <p:spPr bwMode="auto">
          <a:xfrm>
            <a:off x="347472" y="456285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4</a:t>
            </a:r>
            <a:endParaRPr lang="en-US" sz="1400"/>
          </a:p>
        </p:txBody>
      </p:sp>
      <p:sp>
        <p:nvSpPr>
          <p:cNvPr id="1165240893" name="Text 43"/>
          <p:cNvSpPr/>
          <p:nvPr/>
        </p:nvSpPr>
        <p:spPr bwMode="auto">
          <a:xfrm>
            <a:off x="859536" y="456285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Ahmed Omar</a:t>
            </a:r>
            <a:endParaRPr lang="en-US" sz="1150"/>
          </a:p>
        </p:txBody>
      </p:sp>
      <p:sp>
        <p:nvSpPr>
          <p:cNvPr id="2098768049" name="Text 44"/>
          <p:cNvSpPr/>
          <p:nvPr/>
        </p:nvSpPr>
        <p:spPr bwMode="auto">
          <a:xfrm>
            <a:off x="2706624" y="4562856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Marketing</a:t>
            </a:r>
            <a:endParaRPr lang="en-US" sz="1100"/>
          </a:p>
        </p:txBody>
      </p:sp>
      <p:sp>
        <p:nvSpPr>
          <p:cNvPr id="1229726337" name="Text 45"/>
          <p:cNvSpPr/>
          <p:nvPr/>
        </p:nvSpPr>
        <p:spPr bwMode="auto">
          <a:xfrm>
            <a:off x="4279392" y="4562856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DDoS Attack</a:t>
            </a:r>
            <a:endParaRPr lang="en-US" sz="1100"/>
          </a:p>
        </p:txBody>
      </p:sp>
      <p:sp>
        <p:nvSpPr>
          <p:cNvPr id="844521668" name="Shape 46"/>
          <p:cNvSpPr/>
          <p:nvPr/>
        </p:nvSpPr>
        <p:spPr bwMode="auto">
          <a:xfrm>
            <a:off x="6272784" y="47640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045251089" name="Text 47"/>
          <p:cNvSpPr/>
          <p:nvPr/>
        </p:nvSpPr>
        <p:spPr bwMode="auto">
          <a:xfrm>
            <a:off x="6272784" y="47640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312787300" name="Text 48"/>
          <p:cNvSpPr/>
          <p:nvPr/>
        </p:nvSpPr>
        <p:spPr bwMode="auto">
          <a:xfrm>
            <a:off x="7754112" y="4562856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1h 23m web server outage during campaign</a:t>
            </a:r>
            <a:endParaRPr lang="en-US" sz="1000"/>
          </a:p>
        </p:txBody>
      </p:sp>
      <p:sp>
        <p:nvSpPr>
          <p:cNvPr id="1284616112" name="Shape 49"/>
          <p:cNvSpPr/>
          <p:nvPr/>
        </p:nvSpPr>
        <p:spPr bwMode="auto">
          <a:xfrm>
            <a:off x="292608" y="5276088"/>
            <a:ext cx="11576304" cy="65836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16972538" name="Shape 50"/>
          <p:cNvSpPr/>
          <p:nvPr/>
        </p:nvSpPr>
        <p:spPr bwMode="auto">
          <a:xfrm>
            <a:off x="292608" y="5276088"/>
            <a:ext cx="54864" cy="6583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06189104" name="Text 51"/>
          <p:cNvSpPr/>
          <p:nvPr/>
        </p:nvSpPr>
        <p:spPr bwMode="auto">
          <a:xfrm>
            <a:off x="347472" y="527608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5</a:t>
            </a:r>
            <a:endParaRPr lang="en-US" sz="1400"/>
          </a:p>
        </p:txBody>
      </p:sp>
      <p:sp>
        <p:nvSpPr>
          <p:cNvPr id="1009256221" name="Text 52"/>
          <p:cNvSpPr/>
          <p:nvPr/>
        </p:nvSpPr>
        <p:spPr bwMode="auto">
          <a:xfrm>
            <a:off x="859536" y="527608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Tarek Ibrahim</a:t>
            </a:r>
            <a:endParaRPr lang="en-US" sz="1150"/>
          </a:p>
        </p:txBody>
      </p:sp>
      <p:sp>
        <p:nvSpPr>
          <p:cNvPr id="114418116" name="Text 53"/>
          <p:cNvSpPr/>
          <p:nvPr/>
        </p:nvSpPr>
        <p:spPr bwMode="auto">
          <a:xfrm>
            <a:off x="2706624" y="527608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Operations</a:t>
            </a:r>
            <a:endParaRPr lang="en-US" sz="1100"/>
          </a:p>
        </p:txBody>
      </p:sp>
      <p:sp>
        <p:nvSpPr>
          <p:cNvPr id="57982041" name="Text 54"/>
          <p:cNvSpPr/>
          <p:nvPr/>
        </p:nvSpPr>
        <p:spPr bwMode="auto">
          <a:xfrm>
            <a:off x="4279392" y="5276088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Insider Threat</a:t>
            </a:r>
            <a:endParaRPr lang="en-US" sz="1100"/>
          </a:p>
        </p:txBody>
      </p:sp>
      <p:sp>
        <p:nvSpPr>
          <p:cNvPr id="508059858" name="Shape 55"/>
          <p:cNvSpPr/>
          <p:nvPr/>
        </p:nvSpPr>
        <p:spPr bwMode="auto">
          <a:xfrm>
            <a:off x="6272784" y="5477255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806341149" name="Text 56"/>
          <p:cNvSpPr/>
          <p:nvPr/>
        </p:nvSpPr>
        <p:spPr bwMode="auto">
          <a:xfrm>
            <a:off x="6272784" y="5477255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467333962" name="Text 57"/>
          <p:cNvSpPr/>
          <p:nvPr/>
        </p:nvSpPr>
        <p:spPr bwMode="auto">
          <a:xfrm>
            <a:off x="7754112" y="527608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15,000+ records exfiltrated over 3 weeks</a:t>
            </a:r>
            <a:endParaRPr lang="en-US" sz="1000"/>
          </a:p>
        </p:txBody>
      </p:sp>
      <p:sp>
        <p:nvSpPr>
          <p:cNvPr id="1869238098" name="Shape 58"/>
          <p:cNvSpPr/>
          <p:nvPr/>
        </p:nvSpPr>
        <p:spPr bwMode="auto">
          <a:xfrm>
            <a:off x="292608" y="5989320"/>
            <a:ext cx="11576304" cy="6583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015270820" name="Shape 59"/>
          <p:cNvSpPr/>
          <p:nvPr/>
        </p:nvSpPr>
        <p:spPr bwMode="auto">
          <a:xfrm>
            <a:off x="292608" y="5989320"/>
            <a:ext cx="54864" cy="658368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907777694" name="Text 60"/>
          <p:cNvSpPr/>
          <p:nvPr/>
        </p:nvSpPr>
        <p:spPr bwMode="auto">
          <a:xfrm>
            <a:off x="347472" y="598932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6</a:t>
            </a:r>
            <a:endParaRPr lang="en-US" sz="1400"/>
          </a:p>
        </p:txBody>
      </p:sp>
      <p:sp>
        <p:nvSpPr>
          <p:cNvPr id="1868255855" name="Text 61"/>
          <p:cNvSpPr/>
          <p:nvPr/>
        </p:nvSpPr>
        <p:spPr bwMode="auto">
          <a:xfrm>
            <a:off x="859536" y="598932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Layla Nour</a:t>
            </a:r>
            <a:endParaRPr lang="en-US" sz="1150"/>
          </a:p>
        </p:txBody>
      </p:sp>
      <p:sp>
        <p:nvSpPr>
          <p:cNvPr id="2021266431" name="Text 62"/>
          <p:cNvSpPr/>
          <p:nvPr/>
        </p:nvSpPr>
        <p:spPr bwMode="auto">
          <a:xfrm>
            <a:off x="2706624" y="598932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Sales</a:t>
            </a:r>
            <a:endParaRPr lang="en-US" sz="1100"/>
          </a:p>
        </p:txBody>
      </p:sp>
      <p:sp>
        <p:nvSpPr>
          <p:cNvPr id="1088535132" name="Text 63"/>
          <p:cNvSpPr/>
          <p:nvPr/>
        </p:nvSpPr>
        <p:spPr bwMode="auto">
          <a:xfrm>
            <a:off x="4279392" y="598932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Man-in-the-Middle</a:t>
            </a:r>
            <a:endParaRPr lang="en-US" sz="1100"/>
          </a:p>
        </p:txBody>
      </p:sp>
      <p:sp>
        <p:nvSpPr>
          <p:cNvPr id="1528955861" name="Shape 64"/>
          <p:cNvSpPr/>
          <p:nvPr/>
        </p:nvSpPr>
        <p:spPr bwMode="auto">
          <a:xfrm>
            <a:off x="6272784" y="6190488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468948660" name="Text 65"/>
          <p:cNvSpPr/>
          <p:nvPr/>
        </p:nvSpPr>
        <p:spPr bwMode="auto">
          <a:xfrm>
            <a:off x="6272784" y="619048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822157098" name="Text 66"/>
          <p:cNvSpPr/>
          <p:nvPr/>
        </p:nvSpPr>
        <p:spPr bwMode="auto">
          <a:xfrm>
            <a:off x="7754112" y="5989320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Arial"/>
                <a:ea typeface="Arial"/>
                <a:cs typeface="Arial"/>
              </a:rPr>
              <a:t>300 client records - CRM compromised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563588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23870963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49735005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1</a:t>
            </a:r>
            <a:endParaRPr lang="en-US" sz="850"/>
          </a:p>
        </p:txBody>
      </p:sp>
      <p:sp>
        <p:nvSpPr>
          <p:cNvPr id="1931527715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  Phishing</a:t>
            </a:r>
            <a:endParaRPr lang="en-US" sz="2200"/>
          </a:p>
        </p:txBody>
      </p:sp>
      <p:sp>
        <p:nvSpPr>
          <p:cNvPr id="1670230760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Sarah Ahmed - Finance Analyst</a:t>
            </a:r>
            <a:endParaRPr lang="en-US" sz="1100"/>
          </a:p>
        </p:txBody>
      </p:sp>
      <p:sp>
        <p:nvSpPr>
          <p:cNvPr id="1239216218" name="Shape 5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solidFill>
            <a:srgbClr val="3D2600"/>
          </a:solidFill>
          <a:ln w="8890">
            <a:solidFill>
              <a:srgbClr val="F0883E"/>
            </a:solidFill>
            <a:prstDash val="solid"/>
          </a:ln>
        </p:spPr>
      </p:sp>
      <p:sp>
        <p:nvSpPr>
          <p:cNvPr id="1422278598" name="Text 6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900"/>
          </a:p>
        </p:txBody>
      </p:sp>
      <p:sp>
        <p:nvSpPr>
          <p:cNvPr id="959236896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248262287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Social engineering attack using fraudulent email to steal credentials. Bypasses ALL technical controls - targets the human, not the machine. Over 80% of all cybersecurity incidents start here.</a:t>
            </a:r>
            <a:endParaRPr lang="en-US" sz="1050"/>
          </a:p>
        </p:txBody>
      </p:sp>
      <p:sp>
        <p:nvSpPr>
          <p:cNvPr id="1580744339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607048945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80761458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7692931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403787929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1. Recon</a:t>
            </a:r>
            <a:endParaRPr lang="en-US" sz="1000"/>
          </a:p>
        </p:txBody>
      </p:sp>
      <p:sp>
        <p:nvSpPr>
          <p:cNvPr id="188503653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Attacker researches target from LinkedIn and public sources</a:t>
            </a:r>
            <a:endParaRPr lang="en-US" sz="850"/>
          </a:p>
        </p:txBody>
      </p:sp>
      <p:sp>
        <p:nvSpPr>
          <p:cNvPr id="908544232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646760377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367311441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7968611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1742821298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2. Fake Email</a:t>
            </a:r>
            <a:endParaRPr lang="en-US" sz="1000"/>
          </a:p>
        </p:txBody>
      </p:sp>
      <p:sp>
        <p:nvSpPr>
          <p:cNvPr id="1436032508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microsofft-login.com - impersonating Microsoft - password expires today</a:t>
            </a:r>
            <a:endParaRPr lang="en-US" sz="850"/>
          </a:p>
        </p:txBody>
      </p:sp>
      <p:sp>
        <p:nvSpPr>
          <p:cNvPr id="1475939388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386762636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668859181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9173347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225755684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3. Click</a:t>
            </a:r>
            <a:endParaRPr lang="en-US" sz="1000"/>
          </a:p>
        </p:txBody>
      </p:sp>
      <p:sp>
        <p:nvSpPr>
          <p:cNvPr id="2065669592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Sarah clicks link - lands on convincing fake login page</a:t>
            </a:r>
            <a:endParaRPr lang="en-US" sz="850"/>
          </a:p>
        </p:txBody>
      </p:sp>
      <p:sp>
        <p:nvSpPr>
          <p:cNvPr id="1879848500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009494301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096091725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37779587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86821587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4. Capture</a:t>
            </a:r>
            <a:endParaRPr lang="en-US" sz="1000"/>
          </a:p>
        </p:txBody>
      </p:sp>
      <p:sp>
        <p:nvSpPr>
          <p:cNvPr id="2025459509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Credentials sent to attacker kit in real time</a:t>
            </a:r>
            <a:endParaRPr lang="en-US" sz="850"/>
          </a:p>
        </p:txBody>
      </p:sp>
      <p:sp>
        <p:nvSpPr>
          <p:cNvPr id="531002427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583541070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05604681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7341983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1651439190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5. VPN Access</a:t>
            </a:r>
            <a:endParaRPr lang="en-US" sz="1000"/>
          </a:p>
        </p:txBody>
      </p:sp>
      <p:sp>
        <p:nvSpPr>
          <p:cNvPr id="1845568240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Stolen password used on VPN - no MFA enforced</a:t>
            </a:r>
            <a:endParaRPr lang="en-US" sz="850"/>
          </a:p>
        </p:txBody>
      </p:sp>
      <p:sp>
        <p:nvSpPr>
          <p:cNvPr id="472123077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357189031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13727792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6134258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421806324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MFA on all accounts - stops stolen passwords being useful alone</a:t>
            </a:r>
            <a:endParaRPr lang="en-US" sz="1050"/>
          </a:p>
        </p:txBody>
      </p:sp>
      <p:sp>
        <p:nvSpPr>
          <p:cNvPr id="129321138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3454313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253643667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298815510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Email filtering - sandbox all links before delivery to inbox</a:t>
            </a:r>
            <a:endParaRPr lang="en-US" sz="1050"/>
          </a:p>
        </p:txBody>
      </p:sp>
      <p:sp>
        <p:nvSpPr>
          <p:cNvPr id="2132786711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3959572" name="Shape 49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679711249" name="Text 50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775196872" name="Text 51"/>
          <p:cNvSpPr/>
          <p:nvPr/>
        </p:nvSpPr>
        <p:spPr bwMode="auto">
          <a:xfrm>
            <a:off x="1005840" y="488289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SPF, DKIM, DMARC - block spoofed sender addresses</a:t>
            </a:r>
            <a:endParaRPr lang="en-US" sz="1050"/>
          </a:p>
        </p:txBody>
      </p:sp>
      <p:sp>
        <p:nvSpPr>
          <p:cNvPr id="2043721456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88996104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626836862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974054649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Conditional access - flag logins from foreign IPs immediately</a:t>
            </a:r>
            <a:endParaRPr lang="en-US" sz="1050"/>
          </a:p>
        </p:txBody>
      </p:sp>
      <p:sp>
        <p:nvSpPr>
          <p:cNvPr id="1108333439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12446523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#1001</a:t>
            </a:r>
            <a:endParaRPr lang="en-US" sz="950"/>
          </a:p>
        </p:txBody>
      </p:sp>
      <p:sp>
        <p:nvSpPr>
          <p:cNvPr id="1731217442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08946114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282437573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Phishing - Initial Credentials Compromise</a:t>
            </a:r>
            <a:endParaRPr lang="en-US" sz="950"/>
          </a:p>
        </p:txBody>
      </p:sp>
      <p:sp>
        <p:nvSpPr>
          <p:cNvPr id="1908213488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36871517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SEVERITY</a:t>
            </a:r>
            <a:endParaRPr lang="en-US" sz="850"/>
          </a:p>
        </p:txBody>
      </p:sp>
      <p:sp>
        <p:nvSpPr>
          <p:cNvPr id="1022205160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HIGH - VPN credentials compromised</a:t>
            </a:r>
            <a:endParaRPr lang="en-US" sz="950"/>
          </a:p>
        </p:txBody>
      </p:sp>
      <p:sp>
        <p:nvSpPr>
          <p:cNvPr id="1958667730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53346976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850"/>
          </a:p>
        </p:txBody>
      </p:sp>
      <p:sp>
        <p:nvSpPr>
          <p:cNvPr id="763901403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SIEM dual-IP anomaly - T+5h 16m - 192.168.10.45</a:t>
            </a:r>
            <a:endParaRPr lang="en-US" sz="950"/>
          </a:p>
        </p:txBody>
      </p:sp>
      <p:sp>
        <p:nvSpPr>
          <p:cNvPr id="943984676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51975195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TIMELINE</a:t>
            </a:r>
            <a:endParaRPr lang="en-US" sz="850"/>
          </a:p>
        </p:txBody>
      </p:sp>
      <p:sp>
        <p:nvSpPr>
          <p:cNvPr id="821775895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T+00:05 alert  |  T+00:08 contained</a:t>
            </a:r>
            <a:endParaRPr lang="en-US" sz="950"/>
          </a:p>
        </p:txBody>
      </p:sp>
      <p:sp>
        <p:nvSpPr>
          <p:cNvPr id="1038744904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68963328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1006441295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 MFA on VPN - stolen password = full access</a:t>
            </a:r>
            <a:endParaRPr lang="en-US" sz="950"/>
          </a:p>
        </p:txBody>
      </p:sp>
      <p:sp>
        <p:nvSpPr>
          <p:cNvPr id="2027913355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24704085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535810085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CLOSED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54236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35134619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67446838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2</a:t>
            </a:r>
            <a:endParaRPr lang="en-US" sz="850"/>
          </a:p>
        </p:txBody>
      </p:sp>
      <p:sp>
        <p:nvSpPr>
          <p:cNvPr id="585957574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  Ransomware</a:t>
            </a:r>
            <a:endParaRPr lang="en-US" sz="2200"/>
          </a:p>
        </p:txBody>
      </p:sp>
      <p:sp>
        <p:nvSpPr>
          <p:cNvPr id="993161332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Khaled Hassan - IT System Administrator</a:t>
            </a:r>
            <a:endParaRPr lang="en-US" sz="1100"/>
          </a:p>
        </p:txBody>
      </p:sp>
      <p:sp>
        <p:nvSpPr>
          <p:cNvPr id="380518892" name="Shape 5"/>
          <p:cNvSpPr/>
          <p:nvPr/>
        </p:nvSpPr>
        <p:spPr bwMode="auto">
          <a:xfrm>
            <a:off x="11119104" y="676656"/>
            <a:ext cx="749808" cy="274320"/>
          </a:xfrm>
          <a:prstGeom prst="rect">
            <a:avLst/>
          </a:prstGeom>
          <a:solidFill>
            <a:srgbClr val="521010"/>
          </a:solidFill>
          <a:ln w="8890">
            <a:solidFill>
              <a:srgbClr val="FF7B72"/>
            </a:solidFill>
            <a:prstDash val="solid"/>
          </a:ln>
        </p:spPr>
      </p:sp>
      <p:sp>
        <p:nvSpPr>
          <p:cNvPr id="327682631" name="Text 6"/>
          <p:cNvSpPr/>
          <p:nvPr/>
        </p:nvSpPr>
        <p:spPr bwMode="auto">
          <a:xfrm>
            <a:off x="11119104" y="67665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900"/>
          </a:p>
        </p:txBody>
      </p:sp>
      <p:sp>
        <p:nvSpPr>
          <p:cNvPr id="1119518623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026845628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Malware that encrypts files and demands payment. Modern variants use double extortion - data stolen before encryption. LockBit 3.0. Attacks up 93% in 2021. 42% who pay receive no working decryption key.</a:t>
            </a:r>
            <a:endParaRPr lang="en-US" sz="1050"/>
          </a:p>
        </p:txBody>
      </p:sp>
      <p:sp>
        <p:nvSpPr>
          <p:cNvPr id="48914829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908294842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11604827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18354468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649643803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1. Phishing</a:t>
            </a:r>
            <a:endParaRPr lang="en-US" sz="1000"/>
          </a:p>
        </p:txBody>
      </p:sp>
      <p:sp>
        <p:nvSpPr>
          <p:cNvPr id="1996031206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RAT installed on Khaled workstation via phishing email</a:t>
            </a:r>
            <a:endParaRPr lang="en-US" sz="850"/>
          </a:p>
        </p:txBody>
      </p:sp>
      <p:sp>
        <p:nvSpPr>
          <p:cNvPr id="1511157716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241802012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519200773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498948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1735091487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2. Recon</a:t>
            </a:r>
            <a:endParaRPr lang="en-US" sz="1000"/>
          </a:p>
        </p:txBody>
      </p:sp>
      <p:sp>
        <p:nvSpPr>
          <p:cNvPr id="639184482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nmap -sV scan - finds PrintNightmare CVE-2021-34527 unpatched</a:t>
            </a:r>
            <a:endParaRPr lang="en-US" sz="850"/>
          </a:p>
        </p:txBody>
      </p:sp>
      <p:sp>
        <p:nvSpPr>
          <p:cNvPr id="1947907912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83481895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43680016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6643155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861396226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3. Escalate</a:t>
            </a:r>
            <a:endParaRPr lang="en-US" sz="1000"/>
          </a:p>
        </p:txBody>
      </p:sp>
      <p:sp>
        <p:nvSpPr>
          <p:cNvPr id="69118704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PrintNightmare exploited - SYSTEM-level access gained</a:t>
            </a:r>
            <a:endParaRPr lang="en-US" sz="850"/>
          </a:p>
        </p:txBody>
      </p:sp>
      <p:sp>
        <p:nvSpPr>
          <p:cNvPr id="178927007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910624503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5168435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21092998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1589906340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4. Pass-Hash</a:t>
            </a:r>
            <a:endParaRPr lang="en-US" sz="1000"/>
          </a:p>
        </p:txBody>
      </p:sp>
      <p:sp>
        <p:nvSpPr>
          <p:cNvPr id="1508968519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NTLM hashes extracted - Pass-the-Hash to 192.168.30.10</a:t>
            </a:r>
            <a:endParaRPr lang="en-US" sz="850"/>
          </a:p>
        </p:txBody>
      </p:sp>
      <p:sp>
        <p:nvSpPr>
          <p:cNvPr id="899448017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334876286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40224050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4810123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440007312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5. Encrypt</a:t>
            </a:r>
            <a:endParaRPr lang="en-US" sz="1000"/>
          </a:p>
        </p:txBody>
      </p:sp>
      <p:sp>
        <p:nvSpPr>
          <p:cNvPr id="2085225889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2.3GB exfiltrated via HTTPS then LockBit 3.0 deployed</a:t>
            </a:r>
            <a:endParaRPr lang="en-US" sz="850"/>
          </a:p>
        </p:txBody>
      </p:sp>
      <p:sp>
        <p:nvSpPr>
          <p:cNvPr id="484827008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2049423256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86455816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208876826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2124690440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Tested backups - 3-2-1 rule - restoration tested monthly</a:t>
            </a:r>
            <a:endParaRPr lang="en-US" sz="1050"/>
          </a:p>
        </p:txBody>
      </p:sp>
      <p:sp>
        <p:nvSpPr>
          <p:cNvPr id="1418916837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37410283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072779324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319339226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48-hour SLA for Critical CVEs (CVSS 9+) - patch existed 6 months</a:t>
            </a:r>
            <a:endParaRPr lang="en-US" sz="1050"/>
          </a:p>
        </p:txBody>
      </p:sp>
      <p:sp>
        <p:nvSpPr>
          <p:cNvPr id="499663889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47317732" name="Shape 49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840109374" name="Text 50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669537991" name="Text 51"/>
          <p:cNvSpPr/>
          <p:nvPr/>
        </p:nvSpPr>
        <p:spPr bwMode="auto">
          <a:xfrm>
            <a:off x="1005840" y="488289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EDR - detects ransomware encryption behavior in real time</a:t>
            </a:r>
            <a:endParaRPr lang="en-US" sz="1050"/>
          </a:p>
        </p:txBody>
      </p:sp>
      <p:sp>
        <p:nvSpPr>
          <p:cNvPr id="1373426609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052173752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724982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2080718021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Network segmentation - limits spread to affected VLAN only</a:t>
            </a:r>
            <a:endParaRPr lang="en-US" sz="1050"/>
          </a:p>
        </p:txBody>
      </p:sp>
      <p:sp>
        <p:nvSpPr>
          <p:cNvPr id="957599625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2659094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#1002</a:t>
            </a:r>
            <a:endParaRPr lang="en-US" sz="950"/>
          </a:p>
        </p:txBody>
      </p:sp>
      <p:sp>
        <p:nvSpPr>
          <p:cNvPr id="1134172606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78701481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1388788169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Ransomware - Double Extortion - LockBit 3.0</a:t>
            </a:r>
            <a:endParaRPr lang="en-US" sz="950"/>
          </a:p>
        </p:txBody>
      </p:sp>
      <p:sp>
        <p:nvSpPr>
          <p:cNvPr id="456187152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55203811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SEVERITY</a:t>
            </a:r>
            <a:endParaRPr lang="en-US" sz="850"/>
          </a:p>
        </p:txBody>
      </p:sp>
      <p:sp>
        <p:nvSpPr>
          <p:cNvPr id="1437843940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CRITICAL - 3 systems compromised</a:t>
            </a:r>
            <a:endParaRPr lang="en-US" sz="950"/>
          </a:p>
        </p:txBody>
      </p:sp>
      <p:sp>
        <p:nvSpPr>
          <p:cNvPr id="485760612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88963299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SYSTEMS</a:t>
            </a:r>
            <a:endParaRPr lang="en-US" sz="850"/>
          </a:p>
        </p:txBody>
      </p:sp>
      <p:sp>
        <p:nvSpPr>
          <p:cNvPr id="1688440539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192.168.10.52  +  192.168.30.10 (file server)</a:t>
            </a:r>
            <a:endParaRPr lang="en-US" sz="950"/>
          </a:p>
        </p:txBody>
      </p:sp>
      <p:sp>
        <p:nvSpPr>
          <p:cNvPr id="1192136379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30648913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MITRE</a:t>
            </a:r>
            <a:endParaRPr lang="en-US" sz="850"/>
          </a:p>
        </p:txBody>
      </p:sp>
      <p:sp>
        <p:nvSpPr>
          <p:cNvPr id="821366224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7 techniques - T1566 T1068 T1550 T1486</a:t>
            </a:r>
            <a:endParaRPr lang="en-US" sz="950"/>
          </a:p>
        </p:txBody>
      </p:sp>
      <p:sp>
        <p:nvSpPr>
          <p:cNvPr id="441040229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37218312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2076085123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PrintNightmare unpatched 6 months</a:t>
            </a:r>
            <a:endParaRPr lang="en-US" sz="950"/>
          </a:p>
        </p:txBody>
      </p:sp>
      <p:sp>
        <p:nvSpPr>
          <p:cNvPr id="1529013785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39197121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1997371196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CLOSED - $0 ransom - 100% restored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786461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22391527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68071192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3</a:t>
            </a:r>
            <a:endParaRPr lang="en-US" sz="850"/>
          </a:p>
        </p:txBody>
      </p:sp>
      <p:sp>
        <p:nvSpPr>
          <p:cNvPr id="1624180735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  Malware / Remote Access Trojan (RAT)</a:t>
            </a:r>
            <a:endParaRPr lang="en-US" sz="2200"/>
          </a:p>
        </p:txBody>
      </p:sp>
      <p:sp>
        <p:nvSpPr>
          <p:cNvPr id="215681946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Rania Mostafa - HR Manager</a:t>
            </a:r>
            <a:endParaRPr lang="en-US" sz="1100"/>
          </a:p>
        </p:txBody>
      </p:sp>
      <p:sp>
        <p:nvSpPr>
          <p:cNvPr id="1513306300" name="Shape 5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solidFill>
            <a:srgbClr val="3D2600"/>
          </a:solidFill>
          <a:ln w="8890">
            <a:solidFill>
              <a:srgbClr val="F0883E"/>
            </a:solidFill>
            <a:prstDash val="solid"/>
          </a:ln>
        </p:spPr>
      </p:sp>
      <p:sp>
        <p:nvSpPr>
          <p:cNvPr id="1302630521" name="Text 6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900"/>
          </a:p>
        </p:txBody>
      </p:sp>
      <p:sp>
        <p:nvSpPr>
          <p:cNvPr id="1293077108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532834818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Provides attacker persistent covert remote control. Keylogging, file theft, webcam access - all silent. Disguised as UpdateSvc.exe in System32. C2 beacon via HTTPS every 60 seconds. 4h 44m dwell time.</a:t>
            </a:r>
            <a:endParaRPr lang="en-US" sz="1050"/>
          </a:p>
        </p:txBody>
      </p:sp>
      <p:sp>
        <p:nvSpPr>
          <p:cNvPr id="1343157541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380992736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6894727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3343534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1300209446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1. Email</a:t>
            </a:r>
            <a:endParaRPr lang="en-US" sz="1000"/>
          </a:p>
        </p:txBody>
      </p:sp>
      <p:sp>
        <p:nvSpPr>
          <p:cNvPr id="1776354185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HR Policy Q4 .docx with macro arrives in inbox - no sandbox</a:t>
            </a:r>
            <a:endParaRPr lang="en-US" sz="850"/>
          </a:p>
        </p:txBody>
      </p:sp>
      <p:sp>
        <p:nvSpPr>
          <p:cNvPr id="177003680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781437545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99215143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7835813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1213187852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2. Macros</a:t>
            </a:r>
            <a:endParaRPr lang="en-US" sz="1000"/>
          </a:p>
        </p:txBody>
      </p:sp>
      <p:sp>
        <p:nvSpPr>
          <p:cNvPr id="84455865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Rania enables macros - PowerShell downloads RAT silently</a:t>
            </a:r>
            <a:endParaRPr lang="en-US" sz="850"/>
          </a:p>
        </p:txBody>
      </p:sp>
      <p:sp>
        <p:nvSpPr>
          <p:cNvPr id="1881131820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651666938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6006229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04055440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295585898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3. Install</a:t>
            </a:r>
            <a:endParaRPr lang="en-US" sz="1000"/>
          </a:p>
        </p:txBody>
      </p:sp>
      <p:sp>
        <p:nvSpPr>
          <p:cNvPr id="458593940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UpdateSvc.exe in System32 + registry Run key persistence</a:t>
            </a:r>
            <a:endParaRPr lang="en-US" sz="850"/>
          </a:p>
        </p:txBody>
      </p:sp>
      <p:sp>
        <p:nvSpPr>
          <p:cNvPr id="1437335443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382548318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75549811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729952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1468644516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4. C2 Beacon</a:t>
            </a:r>
            <a:endParaRPr lang="en-US" sz="1000"/>
          </a:p>
        </p:txBody>
      </p:sp>
      <p:sp>
        <p:nvSpPr>
          <p:cNvPr id="1490435599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HTTPS beacon to 185.220.101.47 every 60 seconds</a:t>
            </a:r>
            <a:endParaRPr lang="en-US" sz="850"/>
          </a:p>
        </p:txBody>
      </p:sp>
      <p:sp>
        <p:nvSpPr>
          <p:cNvPr id="289763613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51353209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05412600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15711238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1105141552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5. Exfil</a:t>
            </a:r>
            <a:endParaRPr lang="en-US" sz="1000"/>
          </a:p>
        </p:txBody>
      </p:sp>
      <p:sp>
        <p:nvSpPr>
          <p:cNvPr id="1451573648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1,200 HR employee records extracted over 3 hours</a:t>
            </a:r>
            <a:endParaRPr lang="en-US" sz="850"/>
          </a:p>
        </p:txBody>
      </p:sp>
      <p:sp>
        <p:nvSpPr>
          <p:cNvPr id="1940042142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555029232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63738544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230964452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810434504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Disable macros via Group Policy - HR Manager has no legitimate use for macros</a:t>
            </a:r>
            <a:endParaRPr lang="en-US" sz="1050"/>
          </a:p>
        </p:txBody>
      </p:sp>
      <p:sp>
        <p:nvSpPr>
          <p:cNvPr id="532002487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12902184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45685342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2035032705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EDR - detects RAT installation and C2 beaconing in real time</a:t>
            </a:r>
            <a:endParaRPr lang="en-US" sz="1050"/>
          </a:p>
        </p:txBody>
      </p:sp>
      <p:sp>
        <p:nvSpPr>
          <p:cNvPr id="1861413950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67911175" name="Shape 49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528967374" name="Text 50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808833291" name="Text 51"/>
          <p:cNvSpPr/>
          <p:nvPr/>
        </p:nvSpPr>
        <p:spPr bwMode="auto">
          <a:xfrm>
            <a:off x="1005840" y="488289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Application whitelisting - UpdateSvc.exe from temp directory blocked</a:t>
            </a:r>
            <a:endParaRPr lang="en-US" sz="1050"/>
          </a:p>
        </p:txBody>
      </p:sp>
      <p:sp>
        <p:nvSpPr>
          <p:cNvPr id="1778254369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45362701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379201933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197599279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DNS filtering - blocks C2 domain even after RAT is installed</a:t>
            </a:r>
            <a:endParaRPr lang="en-US" sz="1050"/>
          </a:p>
        </p:txBody>
      </p:sp>
      <p:sp>
        <p:nvSpPr>
          <p:cNvPr id="1960159511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54524651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#1003</a:t>
            </a:r>
            <a:endParaRPr lang="en-US" sz="950"/>
          </a:p>
        </p:txBody>
      </p:sp>
      <p:sp>
        <p:nvSpPr>
          <p:cNvPr id="1499720544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52227972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1019087442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Malware - RAT - Persistent C2 Established</a:t>
            </a:r>
            <a:endParaRPr lang="en-US" sz="950"/>
          </a:p>
        </p:txBody>
      </p:sp>
      <p:sp>
        <p:nvSpPr>
          <p:cNvPr id="1695601262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629274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DWELL TIME</a:t>
            </a:r>
            <a:endParaRPr lang="en-US" sz="850"/>
          </a:p>
        </p:txBody>
      </p:sp>
      <p:sp>
        <p:nvSpPr>
          <p:cNvPr id="687791484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4 hours 44 minutes undetected</a:t>
            </a:r>
            <a:endParaRPr lang="en-US" sz="950"/>
          </a:p>
        </p:txBody>
      </p:sp>
      <p:sp>
        <p:nvSpPr>
          <p:cNvPr id="1703416328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639543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850"/>
          </a:p>
        </p:txBody>
      </p:sp>
      <p:sp>
        <p:nvSpPr>
          <p:cNvPr id="968045589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Manual SOC review - no automated alert triggered</a:t>
            </a:r>
            <a:endParaRPr lang="en-US" sz="950"/>
          </a:p>
        </p:txBody>
      </p:sp>
      <p:sp>
        <p:nvSpPr>
          <p:cNvPr id="234982858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6344236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EXFILTRATED</a:t>
            </a:r>
            <a:endParaRPr lang="en-US" sz="850"/>
          </a:p>
        </p:txBody>
      </p:sp>
      <p:sp>
        <p:nvSpPr>
          <p:cNvPr id="1414157419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1,200 HR employee records confirmed</a:t>
            </a:r>
            <a:endParaRPr lang="en-US" sz="950"/>
          </a:p>
        </p:txBody>
      </p:sp>
      <p:sp>
        <p:nvSpPr>
          <p:cNvPr id="396531579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31734516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74527263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 EDR + no macro Group Policy restriction</a:t>
            </a:r>
            <a:endParaRPr lang="en-US" sz="950"/>
          </a:p>
        </p:txBody>
      </p:sp>
      <p:sp>
        <p:nvSpPr>
          <p:cNvPr id="1304049551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56677705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1833904420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CLOSED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791437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41449498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78455247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4</a:t>
            </a:r>
            <a:endParaRPr lang="en-US" sz="850"/>
          </a:p>
        </p:txBody>
      </p:sp>
      <p:sp>
        <p:nvSpPr>
          <p:cNvPr id="619802298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  DDoS Attack</a:t>
            </a:r>
            <a:endParaRPr lang="en-US" sz="2200"/>
          </a:p>
        </p:txBody>
      </p:sp>
      <p:sp>
        <p:nvSpPr>
          <p:cNvPr id="1850015454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Ahmed Omar - Marketing Manager</a:t>
            </a:r>
            <a:endParaRPr lang="en-US" sz="1100"/>
          </a:p>
        </p:txBody>
      </p:sp>
      <p:sp>
        <p:nvSpPr>
          <p:cNvPr id="1595420932" name="Shape 5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solidFill>
            <a:srgbClr val="3D2600"/>
          </a:solidFill>
          <a:ln w="8890">
            <a:solidFill>
              <a:srgbClr val="F0883E"/>
            </a:solidFill>
            <a:prstDash val="solid"/>
          </a:ln>
        </p:spPr>
      </p:sp>
      <p:sp>
        <p:nvSpPr>
          <p:cNvPr id="1420607956" name="Text 6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900"/>
          </a:p>
        </p:txBody>
      </p:sp>
      <p:sp>
        <p:nvSpPr>
          <p:cNvPr id="870390604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427680286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50,000-node botnet floods web server - server unable to respond to legitimate requests. Targets Availability directly. Average downtime cost: $218,000 per hour. No data theft - pure service disruption.</a:t>
            </a:r>
            <a:endParaRPr lang="en-US" sz="1050"/>
          </a:p>
        </p:txBody>
      </p:sp>
      <p:sp>
        <p:nvSpPr>
          <p:cNvPr id="1326125351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314832888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2735168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0479328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1813188945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1. Botnet</a:t>
            </a:r>
            <a:endParaRPr lang="en-US" sz="1000"/>
          </a:p>
        </p:txBody>
      </p:sp>
      <p:sp>
        <p:nvSpPr>
          <p:cNvPr id="338542474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Attacker controls 50,000 compromised devices globally</a:t>
            </a:r>
            <a:endParaRPr lang="en-US" sz="850"/>
          </a:p>
        </p:txBody>
      </p:sp>
      <p:sp>
        <p:nvSpPr>
          <p:cNvPr id="1422898536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945975683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81705977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0134267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805888084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2. Command</a:t>
            </a:r>
            <a:endParaRPr lang="en-US" sz="1000"/>
          </a:p>
        </p:txBody>
      </p:sp>
      <p:sp>
        <p:nvSpPr>
          <p:cNvPr id="316587314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Flood target at 2 million requests per second</a:t>
            </a:r>
            <a:endParaRPr lang="en-US" sz="850"/>
          </a:p>
        </p:txBody>
      </p:sp>
      <p:sp>
        <p:nvSpPr>
          <p:cNvPr id="2029069509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638288780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99284186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8724754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717393427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3. Saturate</a:t>
            </a:r>
            <a:endParaRPr lang="en-US" sz="1000"/>
          </a:p>
        </p:txBody>
      </p:sp>
      <p:sp>
        <p:nvSpPr>
          <p:cNvPr id="97938098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Web server CPU 100% - response times exceed 30 seconds</a:t>
            </a:r>
            <a:endParaRPr lang="en-US" sz="850"/>
          </a:p>
        </p:txBody>
      </p:sp>
      <p:sp>
        <p:nvSpPr>
          <p:cNvPr id="916610637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822940803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9361769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21527018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1544925008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4. Outage</a:t>
            </a:r>
            <a:endParaRPr lang="en-US" sz="1000"/>
          </a:p>
        </p:txBody>
      </p:sp>
      <p:sp>
        <p:nvSpPr>
          <p:cNvPr id="613443548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Full outage - 4,200 campaign visitors see errors</a:t>
            </a:r>
            <a:endParaRPr lang="en-US" sz="850"/>
          </a:p>
        </p:txBody>
      </p:sp>
      <p:sp>
        <p:nvSpPr>
          <p:cNvPr id="1194510900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682768456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81041202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61634352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2069510198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5. Recover</a:t>
            </a:r>
            <a:endParaRPr lang="en-US" sz="1000"/>
          </a:p>
        </p:txBody>
      </p:sp>
      <p:sp>
        <p:nvSpPr>
          <p:cNvPr id="101998149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ISP filtering + CDN failover - 1h 23m total downtime</a:t>
            </a:r>
            <a:endParaRPr lang="en-US" sz="850"/>
          </a:p>
        </p:txBody>
      </p:sp>
      <p:sp>
        <p:nvSpPr>
          <p:cNvPr id="1039999871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108175871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67821733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16841584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188132390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CDN - Cloudflare or AWS Shield - absorbs attacks at the edge before server</a:t>
            </a:r>
            <a:endParaRPr lang="en-US" sz="1050"/>
          </a:p>
        </p:txBody>
      </p:sp>
      <p:sp>
        <p:nvSpPr>
          <p:cNvPr id="1437344796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31352618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415648427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873582071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Rate limiting - max 100 req/IP/min at the WAF layer</a:t>
            </a:r>
            <a:endParaRPr lang="en-US" sz="1050"/>
          </a:p>
        </p:txBody>
      </p:sp>
      <p:sp>
        <p:nvSpPr>
          <p:cNvPr id="1502547911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93131111" name="Shape 49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021282660" name="Text 50"/>
          <p:cNvSpPr/>
          <p:nvPr/>
        </p:nvSpPr>
        <p:spPr bwMode="auto">
          <a:xfrm>
            <a:off x="384048" y="503834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740616784" name="Text 51"/>
          <p:cNvSpPr/>
          <p:nvPr/>
        </p:nvSpPr>
        <p:spPr bwMode="auto">
          <a:xfrm>
            <a:off x="1005840" y="488289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Over-provisioned bandwidth - 2-3x normal peak gives absorption buffer</a:t>
            </a:r>
            <a:endParaRPr lang="en-US" sz="1050"/>
          </a:p>
        </p:txBody>
      </p:sp>
      <p:sp>
        <p:nvSpPr>
          <p:cNvPr id="1926347473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03472813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328699000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821220055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Pre-written DDoS runbook - ISP contacts and CDN failover steps ready</a:t>
            </a:r>
            <a:endParaRPr lang="en-US" sz="1050"/>
          </a:p>
        </p:txBody>
      </p:sp>
      <p:sp>
        <p:nvSpPr>
          <p:cNvPr id="653493094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916041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#1004</a:t>
            </a:r>
            <a:endParaRPr lang="en-US" sz="950"/>
          </a:p>
        </p:txBody>
      </p:sp>
      <p:sp>
        <p:nvSpPr>
          <p:cNvPr id="1598219897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41353011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725244078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DDoS - Volumetric Layer 3/4 - Web Server</a:t>
            </a:r>
            <a:endParaRPr lang="en-US" sz="950"/>
          </a:p>
        </p:txBody>
      </p:sp>
      <p:sp>
        <p:nvSpPr>
          <p:cNvPr id="1056147538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87498782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DOWNTIME</a:t>
            </a:r>
            <a:endParaRPr lang="en-US" sz="850"/>
          </a:p>
        </p:txBody>
      </p:sp>
      <p:sp>
        <p:nvSpPr>
          <p:cNvPr id="1083782691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0883E"/>
                </a:solidFill>
                <a:latin typeface="Arial"/>
                <a:ea typeface="Arial"/>
                <a:cs typeface="Arial"/>
              </a:rPr>
              <a:t>1 hour 23 minutes</a:t>
            </a:r>
            <a:endParaRPr lang="en-US" sz="950"/>
          </a:p>
        </p:txBody>
      </p:sp>
      <p:sp>
        <p:nvSpPr>
          <p:cNvPr id="622722063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34045130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850"/>
          </a:p>
        </p:txBody>
      </p:sp>
      <p:sp>
        <p:nvSpPr>
          <p:cNvPr id="900684150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Automated health check alert at T+00:03</a:t>
            </a:r>
            <a:endParaRPr lang="en-US" sz="950"/>
          </a:p>
        </p:txBody>
      </p:sp>
      <p:sp>
        <p:nvSpPr>
          <p:cNvPr id="1841457861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10015293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INTERNAL</a:t>
            </a:r>
            <a:endParaRPr lang="en-US" sz="850"/>
          </a:p>
        </p:txBody>
      </p:sp>
      <p:sp>
        <p:nvSpPr>
          <p:cNvPr id="1587056786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None - DMZ architecture isolated the attack</a:t>
            </a:r>
            <a:endParaRPr lang="en-US" sz="950"/>
          </a:p>
        </p:txBody>
      </p:sp>
      <p:sp>
        <p:nvSpPr>
          <p:cNvPr id="463381474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6172162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833030994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 CDN or DDoS protection in front of server</a:t>
            </a:r>
            <a:endParaRPr lang="en-US" sz="950"/>
          </a:p>
        </p:txBody>
      </p:sp>
      <p:sp>
        <p:nvSpPr>
          <p:cNvPr id="1730627208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72713088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617054012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CLOSED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425238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15841367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70127219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5</a:t>
            </a:r>
            <a:endParaRPr lang="en-US" sz="850"/>
          </a:p>
        </p:txBody>
      </p:sp>
      <p:sp>
        <p:nvSpPr>
          <p:cNvPr id="529719186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  Insider Threat</a:t>
            </a:r>
            <a:endParaRPr lang="en-US" sz="2200"/>
          </a:p>
        </p:txBody>
      </p:sp>
      <p:sp>
        <p:nvSpPr>
          <p:cNvPr id="775250266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Tarek Ibrahim - Senior Database Administrator</a:t>
            </a:r>
            <a:endParaRPr lang="en-US" sz="1100"/>
          </a:p>
        </p:txBody>
      </p:sp>
      <p:sp>
        <p:nvSpPr>
          <p:cNvPr id="2139904625" name="Shape 5"/>
          <p:cNvSpPr/>
          <p:nvPr/>
        </p:nvSpPr>
        <p:spPr bwMode="auto">
          <a:xfrm>
            <a:off x="11119104" y="676656"/>
            <a:ext cx="749808" cy="274320"/>
          </a:xfrm>
          <a:prstGeom prst="rect">
            <a:avLst/>
          </a:prstGeom>
          <a:solidFill>
            <a:srgbClr val="521010"/>
          </a:solidFill>
          <a:ln w="8890">
            <a:solidFill>
              <a:srgbClr val="FF7B72"/>
            </a:solidFill>
            <a:prstDash val="solid"/>
          </a:ln>
        </p:spPr>
      </p:sp>
      <p:sp>
        <p:nvSpPr>
          <p:cNvPr id="158279480" name="Text 6"/>
          <p:cNvSpPr/>
          <p:nvPr/>
        </p:nvSpPr>
        <p:spPr bwMode="auto">
          <a:xfrm>
            <a:off x="11119104" y="67665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900"/>
          </a:p>
        </p:txBody>
      </p:sp>
      <p:sp>
        <p:nvSpPr>
          <p:cNvPr id="924639352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044970395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Authorized access misused by a trusted insider. Hardest to detect - activity appears legitimate at system level. Ponemon Institute: avg cost $11.45M per incident. Detected 30 days after departure by external audit.</a:t>
            </a:r>
            <a:endParaRPr lang="en-US" sz="1050"/>
          </a:p>
        </p:txBody>
      </p:sp>
      <p:sp>
        <p:nvSpPr>
          <p:cNvPr id="1338909443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23928080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45367720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8971809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1942079490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Wk1 Motive</a:t>
            </a:r>
            <a:endParaRPr lang="en-US" sz="1000"/>
          </a:p>
        </p:txBody>
      </p:sp>
      <p:sp>
        <p:nvSpPr>
          <p:cNvPr id="570685615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Passed over for promotion - reviews what data he can access</a:t>
            </a:r>
            <a:endParaRPr lang="en-US" sz="850"/>
          </a:p>
        </p:txBody>
      </p:sp>
      <p:sp>
        <p:nvSpPr>
          <p:cNvPr id="1317511809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653930396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94043720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4264665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1857716963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Wk2 Assess</a:t>
            </a:r>
            <a:endParaRPr lang="en-US" sz="1000"/>
          </a:p>
        </p:txBody>
      </p:sp>
      <p:sp>
        <p:nvSpPr>
          <p:cNvPr id="479685162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15,000 client records identified and exported to CSV</a:t>
            </a:r>
            <a:endParaRPr lang="en-US" sz="850"/>
          </a:p>
        </p:txBody>
      </p:sp>
      <p:sp>
        <p:nvSpPr>
          <p:cNvPr id="456396731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552126159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01685207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54701045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1748170089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Wk2 Exfil</a:t>
            </a:r>
            <a:endParaRPr lang="en-US" sz="1000"/>
          </a:p>
        </p:txBody>
      </p:sp>
      <p:sp>
        <p:nvSpPr>
          <p:cNvPr id="1460768468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CSV uploaded to personal Google Drive - no DLP alert triggered</a:t>
            </a:r>
            <a:endParaRPr lang="en-US" sz="850"/>
          </a:p>
        </p:txBody>
      </p:sp>
      <p:sp>
        <p:nvSpPr>
          <p:cNvPr id="176909710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42352805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38778447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85781416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1749983687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Wk3 More</a:t>
            </a:r>
            <a:endParaRPr lang="en-US" sz="1000"/>
          </a:p>
        </p:txBody>
      </p:sp>
      <p:sp>
        <p:nvSpPr>
          <p:cNvPr id="239378143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Salary data + 3 years of financials emailed to personal Gmail</a:t>
            </a:r>
            <a:endParaRPr lang="en-US" sz="850"/>
          </a:p>
        </p:txBody>
      </p:sp>
      <p:sp>
        <p:nvSpPr>
          <p:cNvPr id="1936741072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980415720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923449366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9639366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605606968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Day30 Found</a:t>
            </a:r>
            <a:endParaRPr lang="en-US" sz="1000"/>
          </a:p>
        </p:txBody>
      </p:sp>
      <p:sp>
        <p:nvSpPr>
          <p:cNvPr id="483714351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External audit finds bulk DB export pattern in logs</a:t>
            </a:r>
            <a:endParaRPr lang="en-US" sz="850"/>
          </a:p>
        </p:txBody>
      </p:sp>
      <p:sp>
        <p:nvSpPr>
          <p:cNvPr id="299645856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389762619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61174088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376141049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83602089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UEBA - baselines normal behavior - flags bulk exports in real time</a:t>
            </a:r>
            <a:endParaRPr lang="en-US" sz="1050"/>
          </a:p>
        </p:txBody>
      </p:sp>
      <p:sp>
        <p:nvSpPr>
          <p:cNvPr id="71722986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72996230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996909960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35405488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DLP - blocks uploads to personal cloud storage and unauthorized email attachments</a:t>
            </a:r>
            <a:endParaRPr lang="en-US" sz="1050"/>
          </a:p>
        </p:txBody>
      </p:sp>
      <p:sp>
        <p:nvSpPr>
          <p:cNvPr id="374977350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17629759" name="Shape 49"/>
          <p:cNvSpPr/>
          <p:nvPr/>
        </p:nvSpPr>
        <p:spPr bwMode="auto">
          <a:xfrm>
            <a:off x="384048" y="503834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344801246" name="Text 50"/>
          <p:cNvSpPr/>
          <p:nvPr/>
        </p:nvSpPr>
        <p:spPr bwMode="auto">
          <a:xfrm>
            <a:off x="384048" y="50383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510633176" name="Text 51"/>
          <p:cNvSpPr/>
          <p:nvPr/>
        </p:nvSpPr>
        <p:spPr bwMode="auto">
          <a:xfrm>
            <a:off x="1243584" y="488289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Same-day access revocation on resignation or termination</a:t>
            </a:r>
            <a:endParaRPr lang="en-US" sz="1050"/>
          </a:p>
        </p:txBody>
      </p:sp>
      <p:sp>
        <p:nvSpPr>
          <p:cNvPr id="1597906003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0046797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228791906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203876962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Quarterly access reviews - remove accumulated excess permissions</a:t>
            </a:r>
            <a:endParaRPr lang="en-US" sz="1050"/>
          </a:p>
        </p:txBody>
      </p:sp>
      <p:sp>
        <p:nvSpPr>
          <p:cNvPr id="1901971460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91990262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#1005</a:t>
            </a:r>
            <a:endParaRPr lang="en-US" sz="950"/>
          </a:p>
        </p:txBody>
      </p:sp>
      <p:sp>
        <p:nvSpPr>
          <p:cNvPr id="629974665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78969894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1040104401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Insider Threat - Intentional Data Exfiltration</a:t>
            </a:r>
            <a:endParaRPr lang="en-US" sz="950"/>
          </a:p>
        </p:txBody>
      </p:sp>
      <p:sp>
        <p:nvSpPr>
          <p:cNvPr id="1350068405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0687167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EXFILTRATED</a:t>
            </a:r>
            <a:endParaRPr lang="en-US" sz="850"/>
          </a:p>
        </p:txBody>
      </p:sp>
      <p:sp>
        <p:nvSpPr>
          <p:cNvPr id="1143246173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15,000+ records + salary + 3yr financials</a:t>
            </a:r>
            <a:endParaRPr lang="en-US" sz="950"/>
          </a:p>
        </p:txBody>
      </p:sp>
      <p:sp>
        <p:nvSpPr>
          <p:cNvPr id="1261524047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51358951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850"/>
          </a:p>
        </p:txBody>
      </p:sp>
      <p:sp>
        <p:nvSpPr>
          <p:cNvPr id="492685123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30 days post-departure - external audit only</a:t>
            </a:r>
            <a:endParaRPr lang="en-US" sz="950"/>
          </a:p>
        </p:txBody>
      </p:sp>
      <p:sp>
        <p:nvSpPr>
          <p:cNvPr id="853247318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6954339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RT DETECTION</a:t>
            </a:r>
            <a:endParaRPr lang="en-US" sz="850"/>
          </a:p>
        </p:txBody>
      </p:sp>
      <p:sp>
        <p:nvSpPr>
          <p:cNvPr id="1381593961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None - no UEBA, no DLP deployed</a:t>
            </a:r>
            <a:endParaRPr lang="en-US" sz="950"/>
          </a:p>
        </p:txBody>
      </p:sp>
      <p:sp>
        <p:nvSpPr>
          <p:cNvPr id="1351429605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74935646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1563302806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 UEBA + no DLP + 3-day offboarding gap</a:t>
            </a:r>
            <a:endParaRPr lang="en-US" sz="950"/>
          </a:p>
        </p:txBody>
      </p:sp>
      <p:sp>
        <p:nvSpPr>
          <p:cNvPr id="846628517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21724861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294542554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0883E"/>
                </a:solidFill>
                <a:latin typeface="Arial"/>
                <a:ea typeface="Arial"/>
                <a:cs typeface="Arial"/>
              </a:rPr>
              <a:t>OPEN - legal proceedings ongoing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398362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66459964" name="Shape 1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706186754" name="Text 2"/>
          <p:cNvSpPr/>
          <p:nvPr/>
        </p:nvSpPr>
        <p:spPr bwMode="auto">
          <a:xfrm>
            <a:off x="292608" y="274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6</a:t>
            </a:r>
            <a:endParaRPr lang="en-US" sz="850"/>
          </a:p>
        </p:txBody>
      </p:sp>
      <p:sp>
        <p:nvSpPr>
          <p:cNvPr id="346051749" name="Text 3"/>
          <p:cNvSpPr/>
          <p:nvPr/>
        </p:nvSpPr>
        <p:spPr bwMode="auto">
          <a:xfrm>
            <a:off x="292608" y="621792"/>
            <a:ext cx="9601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  Man-in-the-Middle (MitM)</a:t>
            </a:r>
            <a:endParaRPr lang="en-US" sz="2200"/>
          </a:p>
        </p:txBody>
      </p:sp>
      <p:sp>
        <p:nvSpPr>
          <p:cNvPr id="991903901" name="Text 4"/>
          <p:cNvSpPr/>
          <p:nvPr/>
        </p:nvSpPr>
        <p:spPr bwMode="auto">
          <a:xfrm>
            <a:off x="292608" y="1216151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Employee: Layla Nour - Sales Representative (Remote)</a:t>
            </a:r>
            <a:endParaRPr lang="en-US" sz="1100"/>
          </a:p>
        </p:txBody>
      </p:sp>
      <p:sp>
        <p:nvSpPr>
          <p:cNvPr id="227342101" name="Shape 5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solidFill>
            <a:srgbClr val="3D2600"/>
          </a:solidFill>
          <a:ln w="8890">
            <a:solidFill>
              <a:srgbClr val="F0883E"/>
            </a:solidFill>
            <a:prstDash val="solid"/>
          </a:ln>
        </p:spPr>
      </p:sp>
      <p:sp>
        <p:nvSpPr>
          <p:cNvPr id="753456083" name="Text 6"/>
          <p:cNvSpPr/>
          <p:nvPr/>
        </p:nvSpPr>
        <p:spPr bwMode="auto">
          <a:xfrm>
            <a:off x="11356848" y="67665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900"/>
          </a:p>
        </p:txBody>
      </p:sp>
      <p:sp>
        <p:nvSpPr>
          <p:cNvPr id="527554053" name="Shape 7"/>
          <p:cNvSpPr/>
          <p:nvPr/>
        </p:nvSpPr>
        <p:spPr bwMode="auto">
          <a:xfrm>
            <a:off x="292608" y="1572768"/>
            <a:ext cx="1170432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1306617322" name="Text 8"/>
          <p:cNvSpPr/>
          <p:nvPr/>
        </p:nvSpPr>
        <p:spPr bwMode="auto">
          <a:xfrm>
            <a:off x="292608" y="1627632"/>
            <a:ext cx="1157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9D1D9"/>
                </a:solidFill>
                <a:latin typeface="Arial"/>
                <a:ea typeface="Arial"/>
                <a:cs typeface="Arial"/>
              </a:rPr>
              <a:t>Attacker inserts between two parties via rogue Wi-Fi hotspot + ARP spoofing + SSL stripping. CRM credentials captured in plaintext. 4h 54m unauthorized access window. 300 client records stolen.</a:t>
            </a:r>
            <a:endParaRPr lang="en-US" sz="1050"/>
          </a:p>
        </p:txBody>
      </p:sp>
      <p:sp>
        <p:nvSpPr>
          <p:cNvPr id="937689048" name="Shape 9"/>
          <p:cNvSpPr/>
          <p:nvPr/>
        </p:nvSpPr>
        <p:spPr bwMode="auto">
          <a:xfrm>
            <a:off x="292608" y="2148840"/>
            <a:ext cx="1170432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707643635" name="Shape 10"/>
          <p:cNvSpPr/>
          <p:nvPr/>
        </p:nvSpPr>
        <p:spPr bwMode="auto">
          <a:xfrm>
            <a:off x="292608" y="2212848"/>
            <a:ext cx="2154326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50750519" name="Shape 11"/>
          <p:cNvSpPr/>
          <p:nvPr/>
        </p:nvSpPr>
        <p:spPr bwMode="auto">
          <a:xfrm>
            <a:off x="292608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93704502" name="Text 12"/>
          <p:cNvSpPr/>
          <p:nvPr/>
        </p:nvSpPr>
        <p:spPr bwMode="auto">
          <a:xfrm>
            <a:off x="384048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1</a:t>
            </a:r>
            <a:endParaRPr lang="en-US" sz="1300"/>
          </a:p>
        </p:txBody>
      </p:sp>
      <p:sp>
        <p:nvSpPr>
          <p:cNvPr id="143688631" name="Text 13"/>
          <p:cNvSpPr/>
          <p:nvPr/>
        </p:nvSpPr>
        <p:spPr bwMode="auto">
          <a:xfrm>
            <a:off x="384048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1. Rogue AP</a:t>
            </a:r>
            <a:endParaRPr lang="en-US" sz="1000"/>
          </a:p>
        </p:txBody>
      </p:sp>
      <p:sp>
        <p:nvSpPr>
          <p:cNvPr id="1569997917" name="Text 14"/>
          <p:cNvSpPr/>
          <p:nvPr/>
        </p:nvSpPr>
        <p:spPr bwMode="auto">
          <a:xfrm>
            <a:off x="384048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Attacker sets up CoffeeShop_Free - Layla connects from coffee shop</a:t>
            </a:r>
            <a:endParaRPr lang="en-US" sz="850"/>
          </a:p>
        </p:txBody>
      </p:sp>
      <p:sp>
        <p:nvSpPr>
          <p:cNvPr id="48088520" name="Text 15"/>
          <p:cNvSpPr/>
          <p:nvPr/>
        </p:nvSpPr>
        <p:spPr bwMode="auto">
          <a:xfrm>
            <a:off x="2446934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1980294010" name="Shape 16"/>
          <p:cNvSpPr/>
          <p:nvPr/>
        </p:nvSpPr>
        <p:spPr bwMode="auto">
          <a:xfrm>
            <a:off x="2648102" y="2212848"/>
            <a:ext cx="2154326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932718289" name="Shape 17"/>
          <p:cNvSpPr/>
          <p:nvPr/>
        </p:nvSpPr>
        <p:spPr bwMode="auto">
          <a:xfrm>
            <a:off x="2648102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1013014" name="Text 18"/>
          <p:cNvSpPr/>
          <p:nvPr/>
        </p:nvSpPr>
        <p:spPr bwMode="auto">
          <a:xfrm>
            <a:off x="2739542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2</a:t>
            </a:r>
            <a:endParaRPr lang="en-US" sz="1300"/>
          </a:p>
        </p:txBody>
      </p:sp>
      <p:sp>
        <p:nvSpPr>
          <p:cNvPr id="1202812840" name="Text 19"/>
          <p:cNvSpPr/>
          <p:nvPr/>
        </p:nvSpPr>
        <p:spPr bwMode="auto">
          <a:xfrm>
            <a:off x="2739542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2. ARP Spoof</a:t>
            </a:r>
            <a:endParaRPr lang="en-US" sz="1000"/>
          </a:p>
        </p:txBody>
      </p:sp>
      <p:sp>
        <p:nvSpPr>
          <p:cNvPr id="1027647659" name="Text 20"/>
          <p:cNvSpPr/>
          <p:nvPr/>
        </p:nvSpPr>
        <p:spPr bwMode="auto">
          <a:xfrm>
            <a:off x="2739542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Fake ARP replies - all Layla traffic routed via attacker device</a:t>
            </a:r>
            <a:endParaRPr lang="en-US" sz="850"/>
          </a:p>
        </p:txBody>
      </p:sp>
      <p:sp>
        <p:nvSpPr>
          <p:cNvPr id="1447305349" name="Text 21"/>
          <p:cNvSpPr/>
          <p:nvPr/>
        </p:nvSpPr>
        <p:spPr bwMode="auto">
          <a:xfrm>
            <a:off x="4802429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658736" name="Shape 22"/>
          <p:cNvSpPr/>
          <p:nvPr/>
        </p:nvSpPr>
        <p:spPr bwMode="auto">
          <a:xfrm>
            <a:off x="5003597" y="2212848"/>
            <a:ext cx="2154326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267694540" name="Shape 23"/>
          <p:cNvSpPr/>
          <p:nvPr/>
        </p:nvSpPr>
        <p:spPr bwMode="auto">
          <a:xfrm>
            <a:off x="5003597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96743876" name="Text 24"/>
          <p:cNvSpPr/>
          <p:nvPr/>
        </p:nvSpPr>
        <p:spPr bwMode="auto">
          <a:xfrm>
            <a:off x="5095037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3</a:t>
            </a:r>
            <a:endParaRPr lang="en-US" sz="1300"/>
          </a:p>
        </p:txBody>
      </p:sp>
      <p:sp>
        <p:nvSpPr>
          <p:cNvPr id="147893680" name="Text 25"/>
          <p:cNvSpPr/>
          <p:nvPr/>
        </p:nvSpPr>
        <p:spPr bwMode="auto">
          <a:xfrm>
            <a:off x="5095037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3. SSL Strip</a:t>
            </a:r>
            <a:endParaRPr lang="en-US" sz="1000"/>
          </a:p>
        </p:txBody>
      </p:sp>
      <p:sp>
        <p:nvSpPr>
          <p:cNvPr id="2114748956" name="Text 26"/>
          <p:cNvSpPr/>
          <p:nvPr/>
        </p:nvSpPr>
        <p:spPr bwMode="auto">
          <a:xfrm>
            <a:off x="5095037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HTTPS downgraded to HTTP silently - Layla does not notice</a:t>
            </a:r>
            <a:endParaRPr lang="en-US" sz="850"/>
          </a:p>
        </p:txBody>
      </p:sp>
      <p:sp>
        <p:nvSpPr>
          <p:cNvPr id="1913692833" name="Text 27"/>
          <p:cNvSpPr/>
          <p:nvPr/>
        </p:nvSpPr>
        <p:spPr bwMode="auto">
          <a:xfrm>
            <a:off x="7157923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477827888" name="Shape 28"/>
          <p:cNvSpPr/>
          <p:nvPr/>
        </p:nvSpPr>
        <p:spPr bwMode="auto">
          <a:xfrm>
            <a:off x="7359091" y="2212848"/>
            <a:ext cx="2154326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998611342" name="Shape 29"/>
          <p:cNvSpPr/>
          <p:nvPr/>
        </p:nvSpPr>
        <p:spPr bwMode="auto">
          <a:xfrm>
            <a:off x="7359091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86993005" name="Text 30"/>
          <p:cNvSpPr/>
          <p:nvPr/>
        </p:nvSpPr>
        <p:spPr bwMode="auto">
          <a:xfrm>
            <a:off x="7450531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4</a:t>
            </a:r>
            <a:endParaRPr lang="en-US" sz="1300"/>
          </a:p>
        </p:txBody>
      </p:sp>
      <p:sp>
        <p:nvSpPr>
          <p:cNvPr id="866931148" name="Text 31"/>
          <p:cNvSpPr/>
          <p:nvPr/>
        </p:nvSpPr>
        <p:spPr bwMode="auto">
          <a:xfrm>
            <a:off x="7450531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4. Capture</a:t>
            </a:r>
            <a:endParaRPr lang="en-US" sz="1000"/>
          </a:p>
        </p:txBody>
      </p:sp>
      <p:sp>
        <p:nvSpPr>
          <p:cNvPr id="778631951" name="Text 32"/>
          <p:cNvSpPr/>
          <p:nvPr/>
        </p:nvSpPr>
        <p:spPr bwMode="auto">
          <a:xfrm>
            <a:off x="7450531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CRM credentials visible in plaintext - captured instantly</a:t>
            </a:r>
            <a:endParaRPr lang="en-US" sz="850"/>
          </a:p>
        </p:txBody>
      </p:sp>
      <p:sp>
        <p:nvSpPr>
          <p:cNvPr id="1587809209" name="Text 33"/>
          <p:cNvSpPr/>
          <p:nvPr/>
        </p:nvSpPr>
        <p:spPr bwMode="auto">
          <a:xfrm>
            <a:off x="9513418" y="266090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30363D"/>
                </a:solidFill>
                <a:latin typeface="Arial"/>
                <a:ea typeface="Arial"/>
                <a:cs typeface="Arial"/>
              </a:rPr>
              <a:t>›</a:t>
            </a:r>
            <a:endParaRPr lang="en-US" sz="1300"/>
          </a:p>
        </p:txBody>
      </p:sp>
      <p:sp>
        <p:nvSpPr>
          <p:cNvPr id="932253765" name="Shape 34"/>
          <p:cNvSpPr/>
          <p:nvPr/>
        </p:nvSpPr>
        <p:spPr bwMode="auto">
          <a:xfrm>
            <a:off x="9714586" y="2212848"/>
            <a:ext cx="2154326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793082590" name="Shape 35"/>
          <p:cNvSpPr/>
          <p:nvPr/>
        </p:nvSpPr>
        <p:spPr bwMode="auto">
          <a:xfrm>
            <a:off x="9714586" y="2258568"/>
            <a:ext cx="2154326" cy="9875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2244601" name="Text 36"/>
          <p:cNvSpPr/>
          <p:nvPr/>
        </p:nvSpPr>
        <p:spPr bwMode="auto">
          <a:xfrm>
            <a:off x="9806026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778BA"/>
                </a:solidFill>
                <a:latin typeface="Arial"/>
                <a:ea typeface="Arial"/>
                <a:cs typeface="Arial"/>
              </a:rPr>
              <a:t>5</a:t>
            </a:r>
            <a:endParaRPr lang="en-US" sz="1300"/>
          </a:p>
        </p:txBody>
      </p:sp>
      <p:sp>
        <p:nvSpPr>
          <p:cNvPr id="1328937724" name="Text 37"/>
          <p:cNvSpPr/>
          <p:nvPr/>
        </p:nvSpPr>
        <p:spPr bwMode="auto">
          <a:xfrm>
            <a:off x="9806026" y="2596896"/>
            <a:ext cx="197144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5. Access</a:t>
            </a:r>
            <a:endParaRPr lang="en-US" sz="1000"/>
          </a:p>
        </p:txBody>
      </p:sp>
      <p:sp>
        <p:nvSpPr>
          <p:cNvPr id="1176908394" name="Text 38"/>
          <p:cNvSpPr/>
          <p:nvPr/>
        </p:nvSpPr>
        <p:spPr bwMode="auto">
          <a:xfrm>
            <a:off x="9806026" y="2907792"/>
            <a:ext cx="19714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8B949E"/>
                </a:solidFill>
                <a:latin typeface="Arial"/>
                <a:ea typeface="Arial"/>
                <a:cs typeface="Arial"/>
              </a:rPr>
              <a:t>300 client records downloaded from CRM in 4 minutes</a:t>
            </a:r>
            <a:endParaRPr lang="en-US" sz="850"/>
          </a:p>
        </p:txBody>
      </p:sp>
      <p:sp>
        <p:nvSpPr>
          <p:cNvPr id="897597474" name="Text 39"/>
          <p:cNvSpPr/>
          <p:nvPr/>
        </p:nvSpPr>
        <p:spPr bwMode="auto">
          <a:xfrm>
            <a:off x="292608" y="3310127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HARDENING CONTROLS</a:t>
            </a:r>
            <a:endParaRPr lang="en-US" sz="850"/>
          </a:p>
        </p:txBody>
      </p:sp>
      <p:sp>
        <p:nvSpPr>
          <p:cNvPr id="967673594" name="Shape 40"/>
          <p:cNvSpPr/>
          <p:nvPr/>
        </p:nvSpPr>
        <p:spPr bwMode="auto">
          <a:xfrm>
            <a:off x="292608" y="3602735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61288181" name="Shape 41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472078226" name="Text 42"/>
          <p:cNvSpPr/>
          <p:nvPr/>
        </p:nvSpPr>
        <p:spPr bwMode="auto">
          <a:xfrm>
            <a:off x="384048" y="37581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894943267" name="Text 43"/>
          <p:cNvSpPr/>
          <p:nvPr/>
        </p:nvSpPr>
        <p:spPr bwMode="auto">
          <a:xfrm>
            <a:off x="1243584" y="3602735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Mandatory VPN for all remote workers - no exceptions for public Wi-Fi</a:t>
            </a:r>
            <a:endParaRPr lang="en-US" sz="1050"/>
          </a:p>
        </p:txBody>
      </p:sp>
      <p:sp>
        <p:nvSpPr>
          <p:cNvPr id="2116480271" name="Shape 44"/>
          <p:cNvSpPr/>
          <p:nvPr/>
        </p:nvSpPr>
        <p:spPr bwMode="auto">
          <a:xfrm>
            <a:off x="292608" y="424281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84248558" name="Shape 45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1318062841" name="Text 46"/>
          <p:cNvSpPr/>
          <p:nvPr/>
        </p:nvSpPr>
        <p:spPr bwMode="auto">
          <a:xfrm>
            <a:off x="384048" y="439826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801209837" name="Text 47"/>
          <p:cNvSpPr/>
          <p:nvPr/>
        </p:nvSpPr>
        <p:spPr bwMode="auto">
          <a:xfrm>
            <a:off x="1243584" y="424281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HSTS on all corporate web apps - prevents SSL stripping attacks completely</a:t>
            </a:r>
            <a:endParaRPr lang="en-US" sz="1050"/>
          </a:p>
        </p:txBody>
      </p:sp>
      <p:sp>
        <p:nvSpPr>
          <p:cNvPr id="788855302" name="Shape 48"/>
          <p:cNvSpPr/>
          <p:nvPr/>
        </p:nvSpPr>
        <p:spPr bwMode="auto">
          <a:xfrm>
            <a:off x="292608" y="488289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55665474" name="Shape 49"/>
          <p:cNvSpPr/>
          <p:nvPr/>
        </p:nvSpPr>
        <p:spPr bwMode="auto">
          <a:xfrm>
            <a:off x="384048" y="5038344"/>
            <a:ext cx="749808" cy="256032"/>
          </a:xfrm>
          <a:prstGeom prst="rect">
            <a:avLst/>
          </a:prstGeom>
          <a:solidFill>
            <a:srgbClr val="521010"/>
          </a:solidFill>
          <a:ln w="7620">
            <a:solidFill>
              <a:srgbClr val="FF7B72"/>
            </a:solidFill>
            <a:prstDash val="solid"/>
          </a:ln>
        </p:spPr>
      </p:sp>
      <p:sp>
        <p:nvSpPr>
          <p:cNvPr id="781516031" name="Text 50"/>
          <p:cNvSpPr/>
          <p:nvPr/>
        </p:nvSpPr>
        <p:spPr bwMode="auto">
          <a:xfrm>
            <a:off x="384048" y="50383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616462889" name="Text 51"/>
          <p:cNvSpPr/>
          <p:nvPr/>
        </p:nvSpPr>
        <p:spPr bwMode="auto">
          <a:xfrm>
            <a:off x="1243584" y="488289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MFA on CRM and all business apps - captured credentials alone useless</a:t>
            </a:r>
            <a:endParaRPr lang="en-US" sz="1050"/>
          </a:p>
        </p:txBody>
      </p:sp>
      <p:sp>
        <p:nvSpPr>
          <p:cNvPr id="1577840862" name="Shape 52"/>
          <p:cNvSpPr/>
          <p:nvPr/>
        </p:nvSpPr>
        <p:spPr bwMode="auto">
          <a:xfrm>
            <a:off x="292608" y="5522976"/>
            <a:ext cx="5394960" cy="56692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97652681" name="Shape 53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solidFill>
            <a:srgbClr val="3D2600"/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158952754" name="Text 54"/>
          <p:cNvSpPr/>
          <p:nvPr/>
        </p:nvSpPr>
        <p:spPr bwMode="auto">
          <a:xfrm>
            <a:off x="384048" y="56784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2059061501" name="Text 55"/>
          <p:cNvSpPr/>
          <p:nvPr/>
        </p:nvSpPr>
        <p:spPr bwMode="auto">
          <a:xfrm>
            <a:off x="1005840" y="55229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8B949E"/>
                </a:solidFill>
                <a:latin typeface="Arial"/>
                <a:ea typeface="Arial"/>
                <a:cs typeface="Arial"/>
              </a:rPr>
              <a:t>Dynamic ARP Inspection on switches - blocks ARP spoofing within VLANs</a:t>
            </a:r>
            <a:endParaRPr lang="en-US" sz="1050"/>
          </a:p>
        </p:txBody>
      </p:sp>
      <p:sp>
        <p:nvSpPr>
          <p:cNvPr id="1879693354" name="Shape 56"/>
          <p:cNvSpPr/>
          <p:nvPr/>
        </p:nvSpPr>
        <p:spPr bwMode="auto">
          <a:xfrm>
            <a:off x="5870448" y="3310127"/>
            <a:ext cx="5998464" cy="329184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802853002" name="Text 57"/>
          <p:cNvSpPr/>
          <p:nvPr/>
        </p:nvSpPr>
        <p:spPr bwMode="auto">
          <a:xfrm>
            <a:off x="5961888" y="3310127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5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 INCIDENT REPORT   CASE #1006</a:t>
            </a:r>
            <a:endParaRPr lang="en-US" sz="950"/>
          </a:p>
        </p:txBody>
      </p:sp>
      <p:sp>
        <p:nvSpPr>
          <p:cNvPr id="1162235599" name="Shape 58"/>
          <p:cNvSpPr/>
          <p:nvPr/>
        </p:nvSpPr>
        <p:spPr bwMode="auto">
          <a:xfrm>
            <a:off x="5870448" y="3639312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5985636" name="Text 59"/>
          <p:cNvSpPr/>
          <p:nvPr/>
        </p:nvSpPr>
        <p:spPr bwMode="auto">
          <a:xfrm>
            <a:off x="5980176" y="363931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CLASSIFICATION</a:t>
            </a:r>
            <a:endParaRPr lang="en-US" sz="850"/>
          </a:p>
        </p:txBody>
      </p:sp>
      <p:sp>
        <p:nvSpPr>
          <p:cNvPr id="1599842144" name="Text 60"/>
          <p:cNvSpPr/>
          <p:nvPr/>
        </p:nvSpPr>
        <p:spPr bwMode="auto">
          <a:xfrm>
            <a:off x="7242048" y="363931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MitM - Credential Interception - Public Wi-Fi</a:t>
            </a:r>
            <a:endParaRPr lang="en-US" sz="950"/>
          </a:p>
        </p:txBody>
      </p:sp>
      <p:sp>
        <p:nvSpPr>
          <p:cNvPr id="1053516634" name="Shape 61"/>
          <p:cNvSpPr/>
          <p:nvPr/>
        </p:nvSpPr>
        <p:spPr bwMode="auto">
          <a:xfrm>
            <a:off x="5870448" y="4163568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90447390" name="Text 62"/>
          <p:cNvSpPr/>
          <p:nvPr/>
        </p:nvSpPr>
        <p:spPr bwMode="auto">
          <a:xfrm>
            <a:off x="5980176" y="4163568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DWELL TIME</a:t>
            </a:r>
            <a:endParaRPr lang="en-US" sz="850"/>
          </a:p>
        </p:txBody>
      </p:sp>
      <p:sp>
        <p:nvSpPr>
          <p:cNvPr id="367432213" name="Text 63"/>
          <p:cNvSpPr/>
          <p:nvPr/>
        </p:nvSpPr>
        <p:spPr bwMode="auto">
          <a:xfrm>
            <a:off x="7242048" y="4163568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0883E"/>
                </a:solidFill>
                <a:latin typeface="Arial"/>
                <a:ea typeface="Arial"/>
                <a:cs typeface="Arial"/>
              </a:rPr>
              <a:t>4 hours 54 minutes unauthorized access</a:t>
            </a:r>
            <a:endParaRPr lang="en-US" sz="950"/>
          </a:p>
        </p:txBody>
      </p:sp>
      <p:sp>
        <p:nvSpPr>
          <p:cNvPr id="1172622556" name="Shape 64"/>
          <p:cNvSpPr/>
          <p:nvPr/>
        </p:nvSpPr>
        <p:spPr bwMode="auto">
          <a:xfrm>
            <a:off x="5870448" y="4687824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6429104" name="Text 65"/>
          <p:cNvSpPr/>
          <p:nvPr/>
        </p:nvSpPr>
        <p:spPr bwMode="auto">
          <a:xfrm>
            <a:off x="5980176" y="4687824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850"/>
          </a:p>
        </p:txBody>
      </p:sp>
      <p:sp>
        <p:nvSpPr>
          <p:cNvPr id="1901739926" name="Text 66"/>
          <p:cNvSpPr/>
          <p:nvPr/>
        </p:nvSpPr>
        <p:spPr bwMode="auto">
          <a:xfrm>
            <a:off x="7242048" y="4687824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SIEM dual-IP simultaneous login alert</a:t>
            </a:r>
            <a:endParaRPr lang="en-US" sz="950"/>
          </a:p>
        </p:txBody>
      </p:sp>
      <p:sp>
        <p:nvSpPr>
          <p:cNvPr id="39356228" name="Shape 67"/>
          <p:cNvSpPr/>
          <p:nvPr/>
        </p:nvSpPr>
        <p:spPr bwMode="auto">
          <a:xfrm>
            <a:off x="5870448" y="5212080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01392079" name="Text 68"/>
          <p:cNvSpPr/>
          <p:nvPr/>
        </p:nvSpPr>
        <p:spPr bwMode="auto">
          <a:xfrm>
            <a:off x="5980176" y="5212080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EXFILTRATED</a:t>
            </a:r>
            <a:endParaRPr lang="en-US" sz="850"/>
          </a:p>
        </p:txBody>
      </p:sp>
      <p:sp>
        <p:nvSpPr>
          <p:cNvPr id="548158655" name="Text 69"/>
          <p:cNvSpPr/>
          <p:nvPr/>
        </p:nvSpPr>
        <p:spPr bwMode="auto">
          <a:xfrm>
            <a:off x="7242048" y="5212080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Arial"/>
                <a:ea typeface="Arial"/>
                <a:cs typeface="Arial"/>
              </a:rPr>
              <a:t>300 client records from CRM confirmed</a:t>
            </a:r>
            <a:endParaRPr lang="en-US" sz="950"/>
          </a:p>
        </p:txBody>
      </p:sp>
      <p:sp>
        <p:nvSpPr>
          <p:cNvPr id="1586666965" name="Shape 70"/>
          <p:cNvSpPr/>
          <p:nvPr/>
        </p:nvSpPr>
        <p:spPr bwMode="auto">
          <a:xfrm>
            <a:off x="5870448" y="5736336"/>
            <a:ext cx="5998464" cy="52425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10960020" name="Text 71"/>
          <p:cNvSpPr/>
          <p:nvPr/>
        </p:nvSpPr>
        <p:spPr bwMode="auto">
          <a:xfrm>
            <a:off x="5980176" y="5736336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ROOT CAUSE</a:t>
            </a:r>
            <a:endParaRPr lang="en-US" sz="850"/>
          </a:p>
        </p:txBody>
      </p:sp>
      <p:sp>
        <p:nvSpPr>
          <p:cNvPr id="1082587728" name="Text 72"/>
          <p:cNvSpPr/>
          <p:nvPr/>
        </p:nvSpPr>
        <p:spPr bwMode="auto">
          <a:xfrm>
            <a:off x="7242048" y="5736336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F7B72"/>
                </a:solidFill>
                <a:latin typeface="Arial"/>
                <a:ea typeface="Arial"/>
                <a:cs typeface="Arial"/>
              </a:rPr>
              <a:t>No VPN policy + no HSTS on CRM application</a:t>
            </a:r>
            <a:endParaRPr lang="en-US" sz="950"/>
          </a:p>
        </p:txBody>
      </p:sp>
      <p:sp>
        <p:nvSpPr>
          <p:cNvPr id="810812061" name="Shape 73"/>
          <p:cNvSpPr/>
          <p:nvPr/>
        </p:nvSpPr>
        <p:spPr bwMode="auto">
          <a:xfrm>
            <a:off x="5870448" y="6260592"/>
            <a:ext cx="5998464" cy="52425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8824859" name="Text 74"/>
          <p:cNvSpPr/>
          <p:nvPr/>
        </p:nvSpPr>
        <p:spPr bwMode="auto">
          <a:xfrm>
            <a:off x="5980176" y="6260592"/>
            <a:ext cx="1234440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8B949E"/>
                </a:solidFill>
                <a:latin typeface="Arial"/>
                <a:ea typeface="Arial"/>
                <a:cs typeface="Arial"/>
              </a:rPr>
              <a:t>STATUS</a:t>
            </a:r>
            <a:endParaRPr lang="en-US" sz="850"/>
          </a:p>
        </p:txBody>
      </p:sp>
      <p:sp>
        <p:nvSpPr>
          <p:cNvPr id="218874570" name="Text 75"/>
          <p:cNvSpPr/>
          <p:nvPr/>
        </p:nvSpPr>
        <p:spPr bwMode="auto">
          <a:xfrm>
            <a:off x="7242048" y="6260592"/>
            <a:ext cx="453542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FB950"/>
                </a:solidFill>
                <a:latin typeface="Arial"/>
                <a:ea typeface="Arial"/>
                <a:cs typeface="Arial"/>
              </a:rPr>
              <a:t>CLOSED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05561" name="Shape 0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72331412" name="Shape 1"/>
          <p:cNvSpPr/>
          <p:nvPr/>
        </p:nvSpPr>
        <p:spPr bwMode="auto">
          <a:xfrm>
            <a:off x="292608" y="274320"/>
            <a:ext cx="841248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5756751" name="Text 2"/>
          <p:cNvSpPr/>
          <p:nvPr/>
        </p:nvSpPr>
        <p:spPr bwMode="auto">
          <a:xfrm>
            <a:off x="292608" y="274320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  <a:endParaRPr lang="en-US" sz="900"/>
          </a:p>
        </p:txBody>
      </p:sp>
      <p:sp>
        <p:nvSpPr>
          <p:cNvPr id="1434577711" name="Text 3"/>
          <p:cNvSpPr/>
          <p:nvPr/>
        </p:nvSpPr>
        <p:spPr bwMode="auto">
          <a:xfrm>
            <a:off x="292608" y="658368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Executive Summary - Consolidated Findings</a:t>
            </a:r>
            <a:endParaRPr lang="en-US" sz="2600"/>
          </a:p>
        </p:txBody>
      </p:sp>
      <p:sp>
        <p:nvSpPr>
          <p:cNvPr id="324453662" name="Text 4"/>
          <p:cNvSpPr/>
          <p:nvPr/>
        </p:nvSpPr>
        <p:spPr bwMode="auto">
          <a:xfrm>
            <a:off x="292608" y="13716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6 incidents - 14 systems - 16,200+ records exfiltrated - $0 ransom paid - all systems restored</a:t>
            </a:r>
            <a:endParaRPr lang="en-US" sz="1200"/>
          </a:p>
        </p:txBody>
      </p:sp>
      <p:sp>
        <p:nvSpPr>
          <p:cNvPr id="1515792297" name="Shape 5"/>
          <p:cNvSpPr/>
          <p:nvPr/>
        </p:nvSpPr>
        <p:spPr bwMode="auto">
          <a:xfrm>
            <a:off x="292608" y="1783080"/>
            <a:ext cx="11704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55327840" name="Text 6"/>
          <p:cNvSpPr/>
          <p:nvPr/>
        </p:nvSpPr>
        <p:spPr bwMode="auto">
          <a:xfrm>
            <a:off x="292608" y="199339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COMMON ROOT CAUSES</a:t>
            </a:r>
            <a:endParaRPr lang="en-US" sz="850"/>
          </a:p>
        </p:txBody>
      </p:sp>
      <p:sp>
        <p:nvSpPr>
          <p:cNvPr id="1891303038" name="Shape 7"/>
          <p:cNvSpPr/>
          <p:nvPr/>
        </p:nvSpPr>
        <p:spPr bwMode="auto">
          <a:xfrm>
            <a:off x="292608" y="2304288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25020494" name="Shape 8"/>
          <p:cNvSpPr/>
          <p:nvPr/>
        </p:nvSpPr>
        <p:spPr bwMode="auto">
          <a:xfrm>
            <a:off x="292608" y="2304288"/>
            <a:ext cx="45720" cy="4572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300069288" name="Shape 9"/>
          <p:cNvSpPr/>
          <p:nvPr/>
        </p:nvSpPr>
        <p:spPr bwMode="auto">
          <a:xfrm>
            <a:off x="411480" y="2404872"/>
            <a:ext cx="749808" cy="237744"/>
          </a:xfrm>
          <a:prstGeom prst="rect">
            <a:avLst/>
          </a:prstGeom>
          <a:solidFill>
            <a:srgbClr val="521010"/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948392594" name="Text 10"/>
          <p:cNvSpPr/>
          <p:nvPr/>
        </p:nvSpPr>
        <p:spPr bwMode="auto">
          <a:xfrm>
            <a:off x="411480" y="24048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517479156" name="Text 11"/>
          <p:cNvSpPr/>
          <p:nvPr/>
        </p:nvSpPr>
        <p:spPr bwMode="auto">
          <a:xfrm>
            <a:off x="1271016" y="23042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MFA on VPN / Remote Access</a:t>
            </a:r>
            <a:endParaRPr lang="en-US" sz="1100"/>
          </a:p>
        </p:txBody>
      </p:sp>
      <p:sp>
        <p:nvSpPr>
          <p:cNvPr id="1634830310" name="Shape 12"/>
          <p:cNvSpPr/>
          <p:nvPr/>
        </p:nvSpPr>
        <p:spPr bwMode="auto">
          <a:xfrm>
            <a:off x="292608" y="2834640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84675889" name="Shape 13"/>
          <p:cNvSpPr/>
          <p:nvPr/>
        </p:nvSpPr>
        <p:spPr bwMode="auto">
          <a:xfrm>
            <a:off x="292608" y="2834640"/>
            <a:ext cx="45720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52595422" name="Shape 14"/>
          <p:cNvSpPr/>
          <p:nvPr/>
        </p:nvSpPr>
        <p:spPr bwMode="auto">
          <a:xfrm>
            <a:off x="411480" y="2935224"/>
            <a:ext cx="749808" cy="237744"/>
          </a:xfrm>
          <a:prstGeom prst="rect">
            <a:avLst/>
          </a:prstGeom>
          <a:solidFill>
            <a:srgbClr val="521010"/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1992622651" name="Text 15"/>
          <p:cNvSpPr/>
          <p:nvPr/>
        </p:nvSpPr>
        <p:spPr bwMode="auto">
          <a:xfrm>
            <a:off x="411480" y="293522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092138620" name="Text 16"/>
          <p:cNvSpPr/>
          <p:nvPr/>
        </p:nvSpPr>
        <p:spPr bwMode="auto">
          <a:xfrm>
            <a:off x="1271016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DLP (Data Loss Prevention)</a:t>
            </a:r>
            <a:endParaRPr lang="en-US" sz="1100"/>
          </a:p>
        </p:txBody>
      </p:sp>
      <p:sp>
        <p:nvSpPr>
          <p:cNvPr id="1314998370" name="Shape 17"/>
          <p:cNvSpPr/>
          <p:nvPr/>
        </p:nvSpPr>
        <p:spPr bwMode="auto">
          <a:xfrm>
            <a:off x="292608" y="3364992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1482654" name="Shape 18"/>
          <p:cNvSpPr/>
          <p:nvPr/>
        </p:nvSpPr>
        <p:spPr bwMode="auto">
          <a:xfrm>
            <a:off x="292608" y="3364992"/>
            <a:ext cx="45720" cy="457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43945938" name="Shape 19"/>
          <p:cNvSpPr/>
          <p:nvPr/>
        </p:nvSpPr>
        <p:spPr bwMode="auto">
          <a:xfrm>
            <a:off x="411480" y="3465576"/>
            <a:ext cx="749808" cy="237744"/>
          </a:xfrm>
          <a:prstGeom prst="rect">
            <a:avLst/>
          </a:prstGeom>
          <a:solidFill>
            <a:srgbClr val="521010"/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1239121929" name="Text 20"/>
          <p:cNvSpPr/>
          <p:nvPr/>
        </p:nvSpPr>
        <p:spPr bwMode="auto">
          <a:xfrm>
            <a:off x="411480" y="34655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241876537" name="Text 21"/>
          <p:cNvSpPr/>
          <p:nvPr/>
        </p:nvSpPr>
        <p:spPr bwMode="auto">
          <a:xfrm>
            <a:off x="1271016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UEBA (Behavioral Analytics)</a:t>
            </a:r>
            <a:endParaRPr lang="en-US" sz="1100"/>
          </a:p>
        </p:txBody>
      </p:sp>
      <p:sp>
        <p:nvSpPr>
          <p:cNvPr id="1807865178" name="Shape 22"/>
          <p:cNvSpPr/>
          <p:nvPr/>
        </p:nvSpPr>
        <p:spPr bwMode="auto">
          <a:xfrm>
            <a:off x="292608" y="3895343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92347668" name="Shape 23"/>
          <p:cNvSpPr/>
          <p:nvPr/>
        </p:nvSpPr>
        <p:spPr bwMode="auto">
          <a:xfrm>
            <a:off x="292608" y="3895343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16115157" name="Shape 24"/>
          <p:cNvSpPr/>
          <p:nvPr/>
        </p:nvSpPr>
        <p:spPr bwMode="auto">
          <a:xfrm>
            <a:off x="411480" y="3995928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2052326928" name="Text 25"/>
          <p:cNvSpPr/>
          <p:nvPr/>
        </p:nvSpPr>
        <p:spPr bwMode="auto">
          <a:xfrm>
            <a:off x="411480" y="399592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2109686480" name="Text 26"/>
          <p:cNvSpPr/>
          <p:nvPr/>
        </p:nvSpPr>
        <p:spPr bwMode="auto">
          <a:xfrm>
            <a:off x="1033272" y="3895343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EDR on endpoints</a:t>
            </a:r>
            <a:endParaRPr lang="en-US" sz="1100"/>
          </a:p>
        </p:txBody>
      </p:sp>
      <p:sp>
        <p:nvSpPr>
          <p:cNvPr id="1133876263" name="Shape 27"/>
          <p:cNvSpPr/>
          <p:nvPr/>
        </p:nvSpPr>
        <p:spPr bwMode="auto">
          <a:xfrm>
            <a:off x="292608" y="4425696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44281705" name="Shape 28"/>
          <p:cNvSpPr/>
          <p:nvPr/>
        </p:nvSpPr>
        <p:spPr bwMode="auto">
          <a:xfrm>
            <a:off x="292608" y="4425696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70384439" name="Shape 29"/>
          <p:cNvSpPr/>
          <p:nvPr/>
        </p:nvSpPr>
        <p:spPr bwMode="auto">
          <a:xfrm>
            <a:off x="411480" y="4526280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155696960" name="Text 30"/>
          <p:cNvSpPr/>
          <p:nvPr/>
        </p:nvSpPr>
        <p:spPr bwMode="auto">
          <a:xfrm>
            <a:off x="411480" y="452628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737445256" name="Text 31"/>
          <p:cNvSpPr/>
          <p:nvPr/>
        </p:nvSpPr>
        <p:spPr bwMode="auto">
          <a:xfrm>
            <a:off x="1033272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email filtering</a:t>
            </a:r>
            <a:endParaRPr lang="en-US" sz="1100"/>
          </a:p>
        </p:txBody>
      </p:sp>
      <p:sp>
        <p:nvSpPr>
          <p:cNvPr id="1003129473" name="Shape 32"/>
          <p:cNvSpPr/>
          <p:nvPr/>
        </p:nvSpPr>
        <p:spPr bwMode="auto">
          <a:xfrm>
            <a:off x="292608" y="4956048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96939532" name="Shape 33"/>
          <p:cNvSpPr/>
          <p:nvPr/>
        </p:nvSpPr>
        <p:spPr bwMode="auto">
          <a:xfrm>
            <a:off x="292608" y="4956048"/>
            <a:ext cx="45720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70834153" name="Shape 34"/>
          <p:cNvSpPr/>
          <p:nvPr/>
        </p:nvSpPr>
        <p:spPr bwMode="auto">
          <a:xfrm>
            <a:off x="411480" y="5056632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209698648" name="Text 35"/>
          <p:cNvSpPr/>
          <p:nvPr/>
        </p:nvSpPr>
        <p:spPr bwMode="auto">
          <a:xfrm>
            <a:off x="411480" y="505663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569914063" name="Text 36"/>
          <p:cNvSpPr/>
          <p:nvPr/>
        </p:nvSpPr>
        <p:spPr bwMode="auto">
          <a:xfrm>
            <a:off x="1033272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Unpatched Critical CVE - PrintNightmare</a:t>
            </a:r>
            <a:endParaRPr lang="en-US" sz="1100"/>
          </a:p>
        </p:txBody>
      </p:sp>
      <p:sp>
        <p:nvSpPr>
          <p:cNvPr id="979930516" name="Shape 37"/>
          <p:cNvSpPr/>
          <p:nvPr/>
        </p:nvSpPr>
        <p:spPr bwMode="auto">
          <a:xfrm>
            <a:off x="292608" y="5486400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8874607" name="Shape 38"/>
          <p:cNvSpPr/>
          <p:nvPr/>
        </p:nvSpPr>
        <p:spPr bwMode="auto">
          <a:xfrm>
            <a:off x="292608" y="5486400"/>
            <a:ext cx="45720" cy="45720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354696814" name="Shape 39"/>
          <p:cNvSpPr/>
          <p:nvPr/>
        </p:nvSpPr>
        <p:spPr bwMode="auto">
          <a:xfrm>
            <a:off x="411480" y="5586984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947682562" name="Text 40"/>
          <p:cNvSpPr/>
          <p:nvPr/>
        </p:nvSpPr>
        <p:spPr bwMode="auto">
          <a:xfrm>
            <a:off x="411480" y="558698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957481929" name="Text 41"/>
          <p:cNvSpPr/>
          <p:nvPr/>
        </p:nvSpPr>
        <p:spPr bwMode="auto">
          <a:xfrm>
            <a:off x="1033272" y="5486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VPN for remote workers</a:t>
            </a:r>
            <a:endParaRPr lang="en-US" sz="1100"/>
          </a:p>
        </p:txBody>
      </p:sp>
      <p:sp>
        <p:nvSpPr>
          <p:cNvPr id="747053223" name="Shape 42"/>
          <p:cNvSpPr/>
          <p:nvPr/>
        </p:nvSpPr>
        <p:spPr bwMode="auto">
          <a:xfrm>
            <a:off x="292608" y="6016752"/>
            <a:ext cx="5394960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45849184" name="Shape 43"/>
          <p:cNvSpPr/>
          <p:nvPr/>
        </p:nvSpPr>
        <p:spPr bwMode="auto">
          <a:xfrm>
            <a:off x="292608" y="6016752"/>
            <a:ext cx="457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38185165" name="Shape 44"/>
          <p:cNvSpPr/>
          <p:nvPr/>
        </p:nvSpPr>
        <p:spPr bwMode="auto">
          <a:xfrm>
            <a:off x="411480" y="6117336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779920724" name="Text 45"/>
          <p:cNvSpPr/>
          <p:nvPr/>
        </p:nvSpPr>
        <p:spPr bwMode="auto">
          <a:xfrm>
            <a:off x="411480" y="611733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531105981" name="Text 46"/>
          <p:cNvSpPr/>
          <p:nvPr/>
        </p:nvSpPr>
        <p:spPr bwMode="auto">
          <a:xfrm>
            <a:off x="1033272" y="60167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6EDF3"/>
                </a:solidFill>
                <a:latin typeface="Arial"/>
                <a:ea typeface="Arial"/>
                <a:cs typeface="Arial"/>
              </a:rPr>
              <a:t>No DDoS protection (CDN)</a:t>
            </a:r>
            <a:endParaRPr lang="en-US" sz="1100"/>
          </a:p>
        </p:txBody>
      </p:sp>
      <p:sp>
        <p:nvSpPr>
          <p:cNvPr id="868293369" name="Text 47"/>
          <p:cNvSpPr/>
          <p:nvPr/>
        </p:nvSpPr>
        <p:spPr bwMode="auto">
          <a:xfrm>
            <a:off x="5961888" y="1993392"/>
            <a:ext cx="5907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100">
                <a:solidFill>
                  <a:srgbClr val="8B949E"/>
                </a:solidFill>
                <a:latin typeface="Arial"/>
                <a:ea typeface="Arial"/>
                <a:cs typeface="Arial"/>
              </a:rPr>
              <a:t>TOP 5 RECOMMENDATIONS</a:t>
            </a:r>
            <a:endParaRPr lang="en-US" sz="850"/>
          </a:p>
        </p:txBody>
      </p:sp>
      <p:sp>
        <p:nvSpPr>
          <p:cNvPr id="2140482061" name="Shape 48"/>
          <p:cNvSpPr/>
          <p:nvPr/>
        </p:nvSpPr>
        <p:spPr bwMode="auto">
          <a:xfrm>
            <a:off x="5961888" y="2304288"/>
            <a:ext cx="5907024" cy="7132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52369487" name="Shape 49"/>
          <p:cNvSpPr/>
          <p:nvPr/>
        </p:nvSpPr>
        <p:spPr bwMode="auto">
          <a:xfrm>
            <a:off x="5961888" y="2304288"/>
            <a:ext cx="475488" cy="71323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72592386" name="Text 50"/>
          <p:cNvSpPr/>
          <p:nvPr/>
        </p:nvSpPr>
        <p:spPr bwMode="auto">
          <a:xfrm>
            <a:off x="5961888" y="2304288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2000"/>
          </a:p>
        </p:txBody>
      </p:sp>
      <p:sp>
        <p:nvSpPr>
          <p:cNvPr id="163833812" name="Shape 51"/>
          <p:cNvSpPr/>
          <p:nvPr/>
        </p:nvSpPr>
        <p:spPr bwMode="auto">
          <a:xfrm>
            <a:off x="6528816" y="2395728"/>
            <a:ext cx="749808" cy="237744"/>
          </a:xfrm>
          <a:prstGeom prst="rect">
            <a:avLst/>
          </a:prstGeom>
          <a:solidFill>
            <a:srgbClr val="521010"/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151792428" name="Text 52"/>
          <p:cNvSpPr/>
          <p:nvPr/>
        </p:nvSpPr>
        <p:spPr bwMode="auto">
          <a:xfrm>
            <a:off x="6528816" y="23957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887718555" name="Text 53"/>
          <p:cNvSpPr/>
          <p:nvPr/>
        </p:nvSpPr>
        <p:spPr bwMode="auto">
          <a:xfrm>
            <a:off x="7388352" y="2304288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6EDF3"/>
                </a:solidFill>
                <a:latin typeface="Arial"/>
                <a:ea typeface="Arial"/>
                <a:cs typeface="Arial"/>
              </a:rPr>
              <a:t>Enforce MFA on all VPN and privileged access</a:t>
            </a:r>
            <a:endParaRPr lang="en-US" sz="1150"/>
          </a:p>
        </p:txBody>
      </p:sp>
      <p:sp>
        <p:nvSpPr>
          <p:cNvPr id="1277034471" name="Shape 54"/>
          <p:cNvSpPr/>
          <p:nvPr/>
        </p:nvSpPr>
        <p:spPr bwMode="auto">
          <a:xfrm>
            <a:off x="5961888" y="3090672"/>
            <a:ext cx="5907024" cy="7132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72213271" name="Shape 55"/>
          <p:cNvSpPr/>
          <p:nvPr/>
        </p:nvSpPr>
        <p:spPr bwMode="auto">
          <a:xfrm>
            <a:off x="5961888" y="3090672"/>
            <a:ext cx="475488" cy="7132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34350296" name="Text 56"/>
          <p:cNvSpPr/>
          <p:nvPr/>
        </p:nvSpPr>
        <p:spPr bwMode="auto">
          <a:xfrm>
            <a:off x="5961888" y="3090672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2000"/>
          </a:p>
        </p:txBody>
      </p:sp>
      <p:sp>
        <p:nvSpPr>
          <p:cNvPr id="1429298694" name="Shape 57"/>
          <p:cNvSpPr/>
          <p:nvPr/>
        </p:nvSpPr>
        <p:spPr bwMode="auto">
          <a:xfrm>
            <a:off x="6528816" y="3182112"/>
            <a:ext cx="749808" cy="237744"/>
          </a:xfrm>
          <a:prstGeom prst="rect">
            <a:avLst/>
          </a:prstGeom>
          <a:solidFill>
            <a:srgbClr val="521010"/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1430250692" name="Text 58"/>
          <p:cNvSpPr/>
          <p:nvPr/>
        </p:nvSpPr>
        <p:spPr bwMode="auto">
          <a:xfrm>
            <a:off x="6528816" y="31821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CRITICAL</a:t>
            </a:r>
            <a:endParaRPr lang="en-US" sz="800"/>
          </a:p>
        </p:txBody>
      </p:sp>
      <p:sp>
        <p:nvSpPr>
          <p:cNvPr id="1352986102" name="Text 59"/>
          <p:cNvSpPr/>
          <p:nvPr/>
        </p:nvSpPr>
        <p:spPr bwMode="auto">
          <a:xfrm>
            <a:off x="7388352" y="309067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6EDF3"/>
                </a:solidFill>
                <a:latin typeface="Arial"/>
                <a:ea typeface="Arial"/>
                <a:cs typeface="Arial"/>
              </a:rPr>
              <a:t>Deploy UEBA + DLP</a:t>
            </a:r>
            <a:endParaRPr lang="en-US" sz="1150"/>
          </a:p>
        </p:txBody>
      </p:sp>
      <p:sp>
        <p:nvSpPr>
          <p:cNvPr id="2013538959" name="Shape 60"/>
          <p:cNvSpPr/>
          <p:nvPr/>
        </p:nvSpPr>
        <p:spPr bwMode="auto">
          <a:xfrm>
            <a:off x="5961888" y="3877056"/>
            <a:ext cx="5907024" cy="7132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29113472" name="Shape 61"/>
          <p:cNvSpPr/>
          <p:nvPr/>
        </p:nvSpPr>
        <p:spPr bwMode="auto">
          <a:xfrm>
            <a:off x="5961888" y="3877056"/>
            <a:ext cx="475488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83114780" name="Text 62"/>
          <p:cNvSpPr/>
          <p:nvPr/>
        </p:nvSpPr>
        <p:spPr bwMode="auto">
          <a:xfrm>
            <a:off x="5961888" y="3877056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2000"/>
          </a:p>
        </p:txBody>
      </p:sp>
      <p:sp>
        <p:nvSpPr>
          <p:cNvPr id="1295006039" name="Shape 63"/>
          <p:cNvSpPr/>
          <p:nvPr/>
        </p:nvSpPr>
        <p:spPr bwMode="auto">
          <a:xfrm>
            <a:off x="6528816" y="3968496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837782981" name="Text 64"/>
          <p:cNvSpPr/>
          <p:nvPr/>
        </p:nvSpPr>
        <p:spPr bwMode="auto">
          <a:xfrm>
            <a:off x="6528816" y="396849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553525797" name="Text 65"/>
          <p:cNvSpPr/>
          <p:nvPr/>
        </p:nvSpPr>
        <p:spPr bwMode="auto">
          <a:xfrm>
            <a:off x="7150607" y="387705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6EDF3"/>
                </a:solidFill>
                <a:latin typeface="Arial"/>
                <a:ea typeface="Arial"/>
                <a:cs typeface="Arial"/>
              </a:rPr>
              <a:t>Deploy EDR to all 200 endpoints</a:t>
            </a:r>
            <a:endParaRPr lang="en-US" sz="1150"/>
          </a:p>
        </p:txBody>
      </p:sp>
      <p:sp>
        <p:nvSpPr>
          <p:cNvPr id="1096326043" name="Shape 66"/>
          <p:cNvSpPr/>
          <p:nvPr/>
        </p:nvSpPr>
        <p:spPr bwMode="auto">
          <a:xfrm>
            <a:off x="5961888" y="4663440"/>
            <a:ext cx="5907024" cy="7132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57881092" name="Shape 67"/>
          <p:cNvSpPr/>
          <p:nvPr/>
        </p:nvSpPr>
        <p:spPr bwMode="auto">
          <a:xfrm>
            <a:off x="5961888" y="4663440"/>
            <a:ext cx="475488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38954072" name="Text 68"/>
          <p:cNvSpPr/>
          <p:nvPr/>
        </p:nvSpPr>
        <p:spPr bwMode="auto">
          <a:xfrm>
            <a:off x="5961888" y="4663440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2000"/>
          </a:p>
        </p:txBody>
      </p:sp>
      <p:sp>
        <p:nvSpPr>
          <p:cNvPr id="640008049" name="Shape 69"/>
          <p:cNvSpPr/>
          <p:nvPr/>
        </p:nvSpPr>
        <p:spPr bwMode="auto">
          <a:xfrm>
            <a:off x="6528816" y="4754880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338942767" name="Text 70"/>
          <p:cNvSpPr/>
          <p:nvPr/>
        </p:nvSpPr>
        <p:spPr bwMode="auto">
          <a:xfrm>
            <a:off x="6528816" y="475488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961499079" name="Text 71"/>
          <p:cNvSpPr/>
          <p:nvPr/>
        </p:nvSpPr>
        <p:spPr bwMode="auto">
          <a:xfrm>
            <a:off x="7150607" y="46634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6EDF3"/>
                </a:solidFill>
                <a:latin typeface="Arial"/>
                <a:ea typeface="Arial"/>
                <a:cs typeface="Arial"/>
              </a:rPr>
              <a:t>Deploy email filtering with sandboxing (Defender for O365)</a:t>
            </a:r>
            <a:endParaRPr lang="en-US" sz="1150"/>
          </a:p>
        </p:txBody>
      </p:sp>
      <p:sp>
        <p:nvSpPr>
          <p:cNvPr id="2028588429" name="Shape 72"/>
          <p:cNvSpPr/>
          <p:nvPr/>
        </p:nvSpPr>
        <p:spPr bwMode="auto">
          <a:xfrm>
            <a:off x="5961888" y="5449823"/>
            <a:ext cx="5907024" cy="713232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8498384" name="Shape 73"/>
          <p:cNvSpPr/>
          <p:nvPr/>
        </p:nvSpPr>
        <p:spPr bwMode="auto">
          <a:xfrm>
            <a:off x="5961888" y="5449823"/>
            <a:ext cx="475488" cy="7132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92793744" name="Text 74"/>
          <p:cNvSpPr/>
          <p:nvPr/>
        </p:nvSpPr>
        <p:spPr bwMode="auto">
          <a:xfrm>
            <a:off x="5961888" y="5449823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2000"/>
          </a:p>
        </p:txBody>
      </p:sp>
      <p:sp>
        <p:nvSpPr>
          <p:cNvPr id="1582885723" name="Shape 75"/>
          <p:cNvSpPr/>
          <p:nvPr/>
        </p:nvSpPr>
        <p:spPr bwMode="auto">
          <a:xfrm>
            <a:off x="6528816" y="5541264"/>
            <a:ext cx="512064" cy="237744"/>
          </a:xfrm>
          <a:prstGeom prst="rect">
            <a:avLst/>
          </a:prstGeom>
          <a:solidFill>
            <a:srgbClr val="3D2600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571249261" name="Text 76"/>
          <p:cNvSpPr/>
          <p:nvPr/>
        </p:nvSpPr>
        <p:spPr bwMode="auto">
          <a:xfrm>
            <a:off x="6528816" y="554126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0883E"/>
                </a:solidFill>
                <a:latin typeface="Arial"/>
                <a:ea typeface="Arial"/>
                <a:cs typeface="Arial"/>
              </a:rPr>
              <a:t>HIGH</a:t>
            </a:r>
            <a:endParaRPr lang="en-US" sz="800"/>
          </a:p>
        </p:txBody>
      </p:sp>
      <p:sp>
        <p:nvSpPr>
          <p:cNvPr id="1686357608" name="Text 77"/>
          <p:cNvSpPr/>
          <p:nvPr/>
        </p:nvSpPr>
        <p:spPr bwMode="auto">
          <a:xfrm>
            <a:off x="7150607" y="5449823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6EDF3"/>
                </a:solidFill>
                <a:latin typeface="Arial"/>
                <a:ea typeface="Arial"/>
                <a:cs typeface="Arial"/>
              </a:rPr>
              <a:t>Deploy Cloudflare / CDN DDoS protection</a:t>
            </a:r>
            <a:endParaRPr lang="en-US" sz="1150"/>
          </a:p>
        </p:txBody>
      </p:sp>
      <p:sp>
        <p:nvSpPr>
          <p:cNvPr id="2063351762" name="Shape 78"/>
          <p:cNvSpPr/>
          <p:nvPr/>
        </p:nvSpPr>
        <p:spPr bwMode="auto">
          <a:xfrm>
            <a:off x="292608" y="6492240"/>
            <a:ext cx="11576304" cy="301752"/>
          </a:xfrm>
          <a:prstGeom prst="rect">
            <a:avLst/>
          </a:prstGeom>
          <a:solidFill>
            <a:srgbClr val="0E2018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553089636" name="Text 79"/>
          <p:cNvSpPr/>
          <p:nvPr/>
        </p:nvSpPr>
        <p:spPr bwMode="auto">
          <a:xfrm>
            <a:off x="438912" y="6492240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Fix MFA. Fix DLP. Fix EDR. Fix email filtering. Four changes would have prevented or severely limited 5 of the 6 incidents.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913551" name="Text 0"/>
          <p:cNvSpPr/>
          <p:nvPr/>
        </p:nvSpPr>
        <p:spPr bwMode="auto">
          <a:xfrm>
            <a:off x="0" y="0"/>
            <a:ext cx="1216152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0" b="1">
                <a:solidFill>
                  <a:srgbClr val="21262D"/>
                </a:solidFill>
                <a:latin typeface="Arial"/>
                <a:ea typeface="Arial"/>
                <a:cs typeface="Arial"/>
              </a:rPr>
              <a:t>Q&amp;A</a:t>
            </a:r>
            <a:endParaRPr lang="en-US" sz="20000"/>
          </a:p>
        </p:txBody>
      </p:sp>
      <p:sp>
        <p:nvSpPr>
          <p:cNvPr id="579631914" name="Text 1"/>
          <p:cNvSpPr/>
          <p:nvPr/>
        </p:nvSpPr>
        <p:spPr bwMode="auto">
          <a:xfrm>
            <a:off x="0" y="118872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6400" b="1">
                <a:solidFill>
                  <a:srgbClr val="E6EDF3"/>
                </a:solidFill>
                <a:latin typeface="Arial"/>
                <a:ea typeface="Arial"/>
                <a:cs typeface="Arial"/>
              </a:rPr>
              <a:t>Thank You</a:t>
            </a:r>
            <a:endParaRPr lang="en-US" sz="6400"/>
          </a:p>
        </p:txBody>
      </p:sp>
      <p:sp>
        <p:nvSpPr>
          <p:cNvPr id="1390752591" name="Shape 2"/>
          <p:cNvSpPr/>
          <p:nvPr/>
        </p:nvSpPr>
        <p:spPr bwMode="auto">
          <a:xfrm>
            <a:off x="3200400" y="2633472"/>
            <a:ext cx="57607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828237057" name="Text 3"/>
          <p:cNvSpPr/>
          <p:nvPr/>
        </p:nvSpPr>
        <p:spPr bwMode="auto">
          <a:xfrm>
            <a:off x="0" y="2788920"/>
            <a:ext cx="1216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0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Questions &amp; Discussion</a:t>
            </a:r>
            <a:endParaRPr lang="en-US" sz="1900"/>
          </a:p>
        </p:txBody>
      </p:sp>
      <p:sp>
        <p:nvSpPr>
          <p:cNvPr id="377579918" name="Shape 4"/>
          <p:cNvSpPr/>
          <p:nvPr/>
        </p:nvSpPr>
        <p:spPr bwMode="auto">
          <a:xfrm>
            <a:off x="960120" y="3657600"/>
            <a:ext cx="1828800" cy="135331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5420993" name="Shape 5"/>
          <p:cNvSpPr/>
          <p:nvPr/>
        </p:nvSpPr>
        <p:spPr bwMode="auto">
          <a:xfrm>
            <a:off x="960120" y="3657600"/>
            <a:ext cx="18288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64569421" name="Text 6"/>
          <p:cNvSpPr/>
          <p:nvPr/>
        </p:nvSpPr>
        <p:spPr bwMode="auto">
          <a:xfrm>
            <a:off x="960120" y="374904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8 min</a:t>
            </a:r>
            <a:endParaRPr lang="en-US" sz="2800"/>
          </a:p>
        </p:txBody>
      </p:sp>
      <p:sp>
        <p:nvSpPr>
          <p:cNvPr id="1302123797" name="Text 7"/>
          <p:cNvSpPr/>
          <p:nvPr/>
        </p:nvSpPr>
        <p:spPr bwMode="auto">
          <a:xfrm>
            <a:off x="960120" y="4572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1100"/>
          </a:p>
        </p:txBody>
      </p:sp>
      <p:sp>
        <p:nvSpPr>
          <p:cNvPr id="2080783824" name="Shape 8"/>
          <p:cNvSpPr/>
          <p:nvPr/>
        </p:nvSpPr>
        <p:spPr bwMode="auto">
          <a:xfrm>
            <a:off x="3017519" y="3657600"/>
            <a:ext cx="1828800" cy="135331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1195435" name="Shape 9"/>
          <p:cNvSpPr/>
          <p:nvPr/>
        </p:nvSpPr>
        <p:spPr bwMode="auto">
          <a:xfrm>
            <a:off x="3017519" y="3657600"/>
            <a:ext cx="18288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21536246" name="Text 10"/>
          <p:cNvSpPr/>
          <p:nvPr/>
        </p:nvSpPr>
        <p:spPr bwMode="auto">
          <a:xfrm>
            <a:off x="3017519" y="374904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32 min</a:t>
            </a:r>
            <a:endParaRPr lang="en-US" sz="2800"/>
          </a:p>
        </p:txBody>
      </p:sp>
      <p:sp>
        <p:nvSpPr>
          <p:cNvPr id="174739424" name="Text 11"/>
          <p:cNvSpPr/>
          <p:nvPr/>
        </p:nvSpPr>
        <p:spPr bwMode="auto">
          <a:xfrm>
            <a:off x="3017519" y="4572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Containment</a:t>
            </a:r>
            <a:endParaRPr lang="en-US" sz="1100"/>
          </a:p>
        </p:txBody>
      </p:sp>
      <p:sp>
        <p:nvSpPr>
          <p:cNvPr id="188825396" name="Shape 12"/>
          <p:cNvSpPr/>
          <p:nvPr/>
        </p:nvSpPr>
        <p:spPr bwMode="auto">
          <a:xfrm>
            <a:off x="5074920" y="3657600"/>
            <a:ext cx="1828800" cy="135331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8979024" name="Shape 13"/>
          <p:cNvSpPr/>
          <p:nvPr/>
        </p:nvSpPr>
        <p:spPr bwMode="auto">
          <a:xfrm>
            <a:off x="5074920" y="3657600"/>
            <a:ext cx="1828800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411993084" name="Text 14"/>
          <p:cNvSpPr/>
          <p:nvPr/>
        </p:nvSpPr>
        <p:spPr bwMode="auto">
          <a:xfrm>
            <a:off x="5074920" y="374904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7B72"/>
                </a:solidFill>
                <a:latin typeface="Arial"/>
                <a:ea typeface="Arial"/>
                <a:cs typeface="Arial"/>
              </a:rPr>
              <a:t>$0</a:t>
            </a:r>
            <a:endParaRPr lang="en-US" sz="2800"/>
          </a:p>
        </p:txBody>
      </p:sp>
      <p:sp>
        <p:nvSpPr>
          <p:cNvPr id="166099533" name="Text 15"/>
          <p:cNvSpPr/>
          <p:nvPr/>
        </p:nvSpPr>
        <p:spPr bwMode="auto">
          <a:xfrm>
            <a:off x="5074920" y="4572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Ransom</a:t>
            </a:r>
            <a:endParaRPr lang="en-US" sz="1100"/>
          </a:p>
        </p:txBody>
      </p:sp>
      <p:sp>
        <p:nvSpPr>
          <p:cNvPr id="1413314635" name="Shape 16"/>
          <p:cNvSpPr/>
          <p:nvPr/>
        </p:nvSpPr>
        <p:spPr bwMode="auto">
          <a:xfrm>
            <a:off x="7132320" y="3657600"/>
            <a:ext cx="1828800" cy="135331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70560577" name="Shape 17"/>
          <p:cNvSpPr/>
          <p:nvPr/>
        </p:nvSpPr>
        <p:spPr bwMode="auto">
          <a:xfrm>
            <a:off x="7132320" y="3657600"/>
            <a:ext cx="18288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9618185" name="Text 18"/>
          <p:cNvSpPr/>
          <p:nvPr/>
        </p:nvSpPr>
        <p:spPr bwMode="auto">
          <a:xfrm>
            <a:off x="7132320" y="374904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3FB950"/>
                </a:solidFill>
                <a:latin typeface="Arial"/>
                <a:ea typeface="Arial"/>
                <a:cs typeface="Arial"/>
              </a:rPr>
              <a:t>100%</a:t>
            </a:r>
            <a:endParaRPr lang="en-US" sz="2800"/>
          </a:p>
        </p:txBody>
      </p:sp>
      <p:sp>
        <p:nvSpPr>
          <p:cNvPr id="1953939471" name="Text 19"/>
          <p:cNvSpPr/>
          <p:nvPr/>
        </p:nvSpPr>
        <p:spPr bwMode="auto">
          <a:xfrm>
            <a:off x="7132320" y="4572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Restored</a:t>
            </a:r>
            <a:endParaRPr lang="en-US" sz="1100"/>
          </a:p>
        </p:txBody>
      </p:sp>
      <p:sp>
        <p:nvSpPr>
          <p:cNvPr id="1511062876" name="Shape 20"/>
          <p:cNvSpPr/>
          <p:nvPr/>
        </p:nvSpPr>
        <p:spPr bwMode="auto">
          <a:xfrm>
            <a:off x="9189720" y="3657600"/>
            <a:ext cx="1828800" cy="135331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2325032" name="Shape 21"/>
          <p:cNvSpPr/>
          <p:nvPr/>
        </p:nvSpPr>
        <p:spPr bwMode="auto">
          <a:xfrm>
            <a:off x="9189720" y="3657600"/>
            <a:ext cx="182880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968055277" name="Text 22"/>
          <p:cNvSpPr/>
          <p:nvPr/>
        </p:nvSpPr>
        <p:spPr bwMode="auto">
          <a:xfrm>
            <a:off x="9189720" y="374904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BC8CFF"/>
                </a:solidFill>
                <a:latin typeface="Arial"/>
                <a:ea typeface="Arial"/>
                <a:cs typeface="Arial"/>
              </a:rPr>
              <a:t>6/6*</a:t>
            </a:r>
            <a:endParaRPr lang="en-US" sz="2800"/>
          </a:p>
        </p:txBody>
      </p:sp>
      <p:sp>
        <p:nvSpPr>
          <p:cNvPr id="1019018724" name="Text 23"/>
          <p:cNvSpPr/>
          <p:nvPr/>
        </p:nvSpPr>
        <p:spPr bwMode="auto">
          <a:xfrm>
            <a:off x="9189720" y="4572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Arial"/>
                <a:ea typeface="Arial"/>
                <a:cs typeface="Arial"/>
              </a:rPr>
              <a:t>Cases Closed</a:t>
            </a:r>
            <a:endParaRPr lang="en-US" sz="1100"/>
          </a:p>
        </p:txBody>
      </p:sp>
      <p:sp>
        <p:nvSpPr>
          <p:cNvPr id="499548017" name="Shape 24"/>
          <p:cNvSpPr/>
          <p:nvPr/>
        </p:nvSpPr>
        <p:spPr bwMode="auto">
          <a:xfrm>
            <a:off x="2148840" y="5285232"/>
            <a:ext cx="17373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8919044" name="Text 25"/>
          <p:cNvSpPr/>
          <p:nvPr/>
        </p:nvSpPr>
        <p:spPr bwMode="auto">
          <a:xfrm>
            <a:off x="2148840" y="52852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Omar</a:t>
            </a:r>
            <a:endParaRPr lang="en-US" sz="1300"/>
          </a:p>
        </p:txBody>
      </p:sp>
      <p:sp>
        <p:nvSpPr>
          <p:cNvPr id="1141458763" name="Shape 26"/>
          <p:cNvSpPr/>
          <p:nvPr/>
        </p:nvSpPr>
        <p:spPr bwMode="auto">
          <a:xfrm>
            <a:off x="4114800" y="5285232"/>
            <a:ext cx="17373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3485922" name="Text 27"/>
          <p:cNvSpPr/>
          <p:nvPr/>
        </p:nvSpPr>
        <p:spPr bwMode="auto">
          <a:xfrm>
            <a:off x="4114800" y="52852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Youssef</a:t>
            </a:r>
            <a:endParaRPr lang="en-US" sz="1300"/>
          </a:p>
        </p:txBody>
      </p:sp>
      <p:sp>
        <p:nvSpPr>
          <p:cNvPr id="294172797" name="Shape 28"/>
          <p:cNvSpPr/>
          <p:nvPr/>
        </p:nvSpPr>
        <p:spPr bwMode="auto">
          <a:xfrm>
            <a:off x="6080760" y="5285232"/>
            <a:ext cx="17373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51546210" name="Text 29"/>
          <p:cNvSpPr/>
          <p:nvPr/>
        </p:nvSpPr>
        <p:spPr bwMode="auto">
          <a:xfrm>
            <a:off x="6080760" y="52852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Omar</a:t>
            </a:r>
            <a:endParaRPr lang="en-US" sz="1300"/>
          </a:p>
        </p:txBody>
      </p:sp>
      <p:sp>
        <p:nvSpPr>
          <p:cNvPr id="1512442964" name="Shape 30"/>
          <p:cNvSpPr/>
          <p:nvPr/>
        </p:nvSpPr>
        <p:spPr bwMode="auto">
          <a:xfrm>
            <a:off x="8046720" y="5285232"/>
            <a:ext cx="1737360" cy="40233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2759752" name="Text 31"/>
          <p:cNvSpPr/>
          <p:nvPr/>
        </p:nvSpPr>
        <p:spPr bwMode="auto">
          <a:xfrm>
            <a:off x="8046720" y="52852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6EDF3"/>
                </a:solidFill>
                <a:latin typeface="Arial"/>
                <a:ea typeface="Arial"/>
                <a:cs typeface="Arial"/>
              </a:rPr>
              <a:t>Mahmoud</a:t>
            </a:r>
            <a:endParaRPr lang="en-US" sz="1300"/>
          </a:p>
        </p:txBody>
      </p:sp>
      <p:sp>
        <p:nvSpPr>
          <p:cNvPr id="2037928645" name="Text 32"/>
          <p:cNvSpPr/>
          <p:nvPr/>
        </p:nvSpPr>
        <p:spPr bwMode="auto">
          <a:xfrm>
            <a:off x="0" y="59893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8B949E"/>
                </a:solidFill>
                <a:latin typeface="Arial"/>
                <a:ea typeface="Arial"/>
                <a:cs typeface="Arial"/>
              </a:rPr>
              <a:t>* Case #1005 (Insider Threat): OPEN - legal proceedings ongoing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Incident Response Framework</dc:title>
  <dc:subject>PptxGenJS Presentation</dc:subject>
  <dc:creator>Omar · Youssef · Omar · Mahmoud</dc:creator>
  <cp:lastModifiedBy/>
  <cp:revision>2</cp:revision>
  <dcterms:created xsi:type="dcterms:W3CDTF">2026-04-29T02:53:49Z</dcterms:created>
  <dcterms:modified xsi:type="dcterms:W3CDTF">2026-04-30T04:40:30Z</dcterms:modified>
</cp:coreProperties>
</file>